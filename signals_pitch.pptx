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7" r:id="rId5"/>
    <p:sldId id="260" r:id="rId6"/>
    <p:sldId id="261" r:id="rId7"/>
    <p:sldId id="263" r:id="rId8"/>
    <p:sldId id="279" r:id="rId9"/>
    <p:sldId id="265" r:id="rId10"/>
    <p:sldId id="266" r:id="rId11"/>
    <p:sldId id="275" r:id="rId12"/>
    <p:sldId id="271" r:id="rId13"/>
    <p:sldId id="268" r:id="rId14"/>
    <p:sldId id="27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85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Deschidere: prezentăm SIGNals: fiecare elev surd are pe bancă un dispozitiv conectat la aceeași platformă ca profesorul. Elevul semnează, dispozitivul traduce în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echipa. Fiecare membru spune numele, rolul și ce a construit.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ce face SIGNals, pe scurt, dispozitivul elevului traduce semnele în text pentru profesor, iar răspunsul profesorului ajunge ca text înapoi la elev.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Ne-am concentrat pe școli: utilizatorii direcți sunt elevul și profesorul.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contextul. Sursa cifrelor: Europa Liberă România, aprilie 2022. Raportul 1 la 230 e calculat din 23.000 / ~100.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cele patru tipuri de concurenți și cum se poziționează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Cine plătește și pentru ce. Contul elevului e gratuit; școala plătește licența: Clasă €399/an (până la 5 elevi, sub €35 pe lună pentru toată clasa) sau Școală €1.490/an (elevi nelimitați, rentabilă de la 4 clase). Dispozitivul (~€70 cost de producție) este inclus în licență. Break-even estimat în anul 4, la ~700 de elevi activi.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Planul de marketing, legat direct de prețuri. Clasă (€399/an) e ușa de intrare: o vindem școlilor de masă cu câțiva elevi surzi integrați, prin profesorii de sprijin și CJRAE. Școală (€1.490/an) devine rentabilă pentru școală de la 4 clase (4 × €399 = €1.596), deci o propunem școlilor speciale și școlilor care cresc. Inspectoratele și fondurile (CSR, proiecte europene, asociațiile surzilor) aduc contracte pentru mai multe școli deodată. Pâlnia: demo live, pilot gratuit un semestru, apoi licență. Buget: €5.000 în anul 1 (demo-uri în școli, cum apare la Business Model), €10.000 în anul 3, €15.000 în anul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Proiecții pe 1, 3 și 5 ani, calculate cu prețurile din Business Model. Venit = €399 × licențe Clasă + €1.490 × licențe Școală. Ipoteze: o licență Clasă are în medie 3 elevi, o licență Școală 15 elevi; fiecare elev nou primește un dispozitiv (~€70), fiecare elev activ costă ~€20/an (servere și AI). Costuri fixe: €25.000 (anii 1–3), €30.000 (anul 4), €35.000 (anul 5). Marketing: €5.000 / €8.000 / €10.000 / €12.000 / €15.000. An 1: 45 elevi, venit €5.480, costuri €34.050. An 2: 210 elevi, venit €24.900, costuri €48.750. An 3: 570 elevi, venit €65.710, costuri €71.600. An 4: 1.005 elevi, venit €115.990, costuri €92.550, primul an pe profit (+€23.400). An 5: 1.545 elevi, venit €177.710, costuri €118.700. Investiția cumulată se recuperează în anul 5. Contractele cu inspectoratele sunt incluse ca licențe Clasă/Școală cumpărate la nivel de județ.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viziunea și fraza de încheiere.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Viziunea după hackathon. Ajustați etapele după planul echipei.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Fiți sinceri cu juriul: ce merge acum și ce e încă în lucru. Mutați rândurile între coloane după starea reală a MVP-ului.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Scenariul demo-ului: tableta cu cameră încorporată detectează scheletul palmei elevului (punctele articulațiilor), recunoaște semnul și trimite textul în aplicația profesorului. Treceți la demo-ul live după acest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Încheiere și sesiune de întrebări.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1525" y="993775"/>
            <a:ext cx="573087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71525" y="2248535"/>
            <a:ext cx="10607675" cy="379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1525" y="993775"/>
            <a:ext cx="573087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7F5F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71525" y="2248535"/>
            <a:ext cx="10607675" cy="379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1525" y="993775"/>
            <a:ext cx="573087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7F5F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71525" y="2248535"/>
            <a:ext cx="10607675" cy="379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1525" y="993775"/>
            <a:ext cx="573087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71525" y="2248535"/>
            <a:ext cx="10607675" cy="379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rcRect l="-146" r="-146"/>
          <a:stretch/>
        </p:blipFill>
        <p:spPr>
          <a:xfrm>
            <a:off x="6477000" y="1587500"/>
            <a:ext cx="4953000" cy="330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1158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ro-RO" sz="1400" b="1" kern="0" spc="200" dirty="0">
                <a:solidFill>
                  <a:srgbClr val="F26A65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VIANU </a:t>
            </a:r>
            <a:r>
              <a:rPr lang="en-US" sz="1400" b="1" kern="0" spc="200" dirty="0">
                <a:solidFill>
                  <a:srgbClr val="F26A65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HACKATHON · TEMA „MIDDLEMAN”</a:t>
            </a:r>
            <a:endParaRPr lang="en-US" sz="1400" dirty="0">
              <a:latin typeface="+mj-lt"/>
            </a:endParaRPr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261874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i="0" kern="0" spc="-200" dirty="0">
                <a:solidFill>
                  <a:srgbClr val="F7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SIGN</a:t>
            </a:r>
            <a:r>
              <a:rPr lang="en-US" sz="9000" b="1" i="0" kern="0" spc="-200" dirty="0">
                <a:solidFill>
                  <a:srgbClr val="F26A6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als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812800" y="4015740"/>
            <a:ext cx="536321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ro-RO" sz="2200" dirty="0">
                <a:solidFill>
                  <a:srgbClr val="D3D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Platforma</a:t>
            </a:r>
            <a:r>
              <a:rPr lang="en-US" sz="2200" dirty="0">
                <a:solidFill>
                  <a:srgbClr val="D3D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care transformă limbajul semnelor în text, live, în clasă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6650" y="876300"/>
            <a:ext cx="5245100" cy="38100"/>
          </a:xfrm>
          <a:prstGeom prst="roundRect">
            <a:avLst>
              <a:gd name="adj" fmla="val 50000"/>
            </a:avLst>
          </a:prstGeom>
          <a:solidFill>
            <a:srgbClr val="E850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98250" y="685800"/>
            <a:ext cx="419100" cy="419100"/>
          </a:xfrm>
          <a:prstGeom prst="ellipse">
            <a:avLst/>
          </a:prstGeom>
        </p:spPr>
      </p:pic>
      <p:pic>
        <p:nvPicPr>
          <p:cNvPr id="4" name="Image 1" descr="Membru al echipei 1"/>
          <p:cNvPicPr>
            <a:picLocks noChangeAspect="1"/>
          </p:cNvPicPr>
          <p:nvPr/>
        </p:nvPicPr>
        <p:blipFill>
          <a:blip r:embed="rId4"/>
          <a:srcRect t="36" b="36"/>
          <a:stretch/>
        </p:blipFill>
        <p:spPr>
          <a:xfrm>
            <a:off x="488950" y="2673350"/>
            <a:ext cx="2025650" cy="1644650"/>
          </a:xfrm>
          <a:prstGeom prst="roundRect">
            <a:avLst>
              <a:gd name="adj" fmla="val 4633"/>
            </a:avLst>
          </a:prstGeom>
        </p:spPr>
      </p:pic>
      <p:pic>
        <p:nvPicPr>
          <p:cNvPr id="5" name="Image 2" descr="Membru al echipei 2"/>
          <p:cNvPicPr>
            <a:picLocks noChangeAspect="1"/>
          </p:cNvPicPr>
          <p:nvPr/>
        </p:nvPicPr>
        <p:blipFill>
          <a:blip r:embed="rId5"/>
          <a:srcRect t="36" b="36"/>
          <a:stretch/>
        </p:blipFill>
        <p:spPr>
          <a:xfrm>
            <a:off x="2825750" y="2673350"/>
            <a:ext cx="2025650" cy="1644650"/>
          </a:xfrm>
          <a:prstGeom prst="roundRect">
            <a:avLst>
              <a:gd name="adj" fmla="val 4633"/>
            </a:avLst>
          </a:prstGeom>
        </p:spPr>
      </p:pic>
      <p:pic>
        <p:nvPicPr>
          <p:cNvPr id="6" name="Image 3" descr="Membru al echipei 3"/>
          <p:cNvPicPr>
            <a:picLocks noChangeAspect="1"/>
          </p:cNvPicPr>
          <p:nvPr/>
        </p:nvPicPr>
        <p:blipFill>
          <a:blip r:embed="rId6"/>
          <a:srcRect t="36" b="36"/>
          <a:stretch/>
        </p:blipFill>
        <p:spPr>
          <a:xfrm>
            <a:off x="5143500" y="2673350"/>
            <a:ext cx="2025650" cy="1644650"/>
          </a:xfrm>
          <a:prstGeom prst="roundRect">
            <a:avLst>
              <a:gd name="adj" fmla="val 4633"/>
            </a:avLst>
          </a:prstGeom>
        </p:spPr>
      </p:pic>
      <p:pic>
        <p:nvPicPr>
          <p:cNvPr id="7" name="Image 4" descr="Membru al echipei 4"/>
          <p:cNvPicPr>
            <a:picLocks noChangeAspect="1"/>
          </p:cNvPicPr>
          <p:nvPr/>
        </p:nvPicPr>
        <p:blipFill>
          <a:blip r:embed="rId7"/>
          <a:srcRect t="36" b="36"/>
          <a:stretch/>
        </p:blipFill>
        <p:spPr>
          <a:xfrm>
            <a:off x="7340600" y="2673350"/>
            <a:ext cx="2025650" cy="1644650"/>
          </a:xfrm>
          <a:prstGeom prst="roundRect">
            <a:avLst>
              <a:gd name="adj" fmla="val 4633"/>
            </a:avLst>
          </a:prstGeom>
        </p:spPr>
      </p:pic>
      <p:pic>
        <p:nvPicPr>
          <p:cNvPr id="8" name="Image 5" descr="Membru al echipei 5"/>
          <p:cNvPicPr>
            <a:picLocks noChangeAspect="1"/>
          </p:cNvPicPr>
          <p:nvPr/>
        </p:nvPicPr>
        <p:blipFill>
          <a:blip r:embed="rId8"/>
          <a:srcRect t="36" b="36"/>
          <a:stretch/>
        </p:blipFill>
        <p:spPr>
          <a:xfrm>
            <a:off x="9582150" y="2673350"/>
            <a:ext cx="2025650" cy="1644650"/>
          </a:xfrm>
          <a:prstGeom prst="roundRect">
            <a:avLst>
              <a:gd name="adj" fmla="val 4633"/>
            </a:avLst>
          </a:prstGeom>
        </p:spPr>
      </p:pic>
      <p:sp>
        <p:nvSpPr>
          <p:cNvPr id="9" name="Text 1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609600" y="1574800"/>
            <a:ext cx="113019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Cinci oameni, un singur obiectiv: </a:t>
            </a:r>
            <a:r>
              <a:rPr lang="en-US" sz="15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nici</a:t>
            </a:r>
            <a:r>
              <a:rPr lang="ro-RO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</a:t>
            </a:r>
            <a:r>
              <a:rPr lang="ro-RO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informație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pierdută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Am construit SIGNals cap-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coadă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 parcursul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hackathon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ului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de la cod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până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design și pitch.</a:t>
            </a:r>
            <a:endParaRPr lang="en-US" sz="1500" dirty="0"/>
          </a:p>
        </p:txBody>
      </p:sp>
      <p:sp>
        <p:nvSpPr>
          <p:cNvPr id="13" name="Shape 5"/>
          <p:cNvSpPr/>
          <p:nvPr/>
        </p:nvSpPr>
        <p:spPr>
          <a:xfrm>
            <a:off x="488950" y="4457700"/>
            <a:ext cx="2025650" cy="584200"/>
          </a:xfrm>
          <a:prstGeom prst="roundRect">
            <a:avLst>
              <a:gd name="adj" fmla="val 8696"/>
            </a:avLst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590550" y="4521200"/>
            <a:ext cx="187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ro-RO" sz="1300" b="1" dirty="0">
                <a:solidFill>
                  <a:srgbClr val="F26A65"/>
                </a:solidFill>
                <a:latin typeface="Nunito Sans" pitchFamily="34" charset="0"/>
              </a:rPr>
              <a:t>Boleac Tudor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590550" y="4765040"/>
            <a:ext cx="187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Software 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2825750" y="4457700"/>
            <a:ext cx="2025650" cy="584200"/>
          </a:xfrm>
          <a:prstGeom prst="roundRect">
            <a:avLst>
              <a:gd name="adj" fmla="val 8696"/>
            </a:avLst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2927350" y="4521200"/>
            <a:ext cx="187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Stancu Eduard Andrei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2927350" y="4765040"/>
            <a:ext cx="187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5143500" y="4457700"/>
            <a:ext cx="2025650" cy="584200"/>
          </a:xfrm>
          <a:prstGeom prst="roundRect">
            <a:avLst>
              <a:gd name="adj" fmla="val 8696"/>
            </a:avLst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5245100" y="4521200"/>
            <a:ext cx="187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 err="1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Ghi</a:t>
            </a:r>
            <a:r>
              <a:rPr lang="ro-RO" sz="1300" b="1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ță</a:t>
            </a:r>
            <a:r>
              <a:rPr lang="en-US" sz="1300" b="1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Costa Cristian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245100" y="4765040"/>
            <a:ext cx="187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o-RO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Coordonator</a:t>
            </a:r>
            <a:r>
              <a:rPr lang="en-US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&amp; Marketing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7340600" y="4457700"/>
            <a:ext cx="2025650" cy="584200"/>
          </a:xfrm>
          <a:prstGeom prst="roundRect">
            <a:avLst>
              <a:gd name="adj" fmla="val 8696"/>
            </a:avLst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7442200" y="4521200"/>
            <a:ext cx="187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ro-RO" sz="1300" b="1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Pârvulescu Ștefan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7442200" y="4765040"/>
            <a:ext cx="187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Design</a:t>
            </a:r>
            <a:r>
              <a:rPr lang="ro-RO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&amp; Interfață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9582150" y="4457700"/>
            <a:ext cx="2025650" cy="584200"/>
          </a:xfrm>
          <a:prstGeom prst="roundRect">
            <a:avLst>
              <a:gd name="adj" fmla="val 8696"/>
            </a:avLst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9683750" y="4521200"/>
            <a:ext cx="187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Florea Ștefan Peter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9683750" y="4765040"/>
            <a:ext cx="187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o-RO" sz="1200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Legal &amp; Marketing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88950" y="5130800"/>
            <a:ext cx="2086419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 în cadrul CNITV, o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limpic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ț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ional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informatic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ă,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reu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 s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ă-și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dezvolte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o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pasiune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pentru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tehnologie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ă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integreze diversi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algoritmi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î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folosul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comunit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ăț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ii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2825750" y="5130800"/>
            <a:ext cx="2086419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 în cadrul CNCB, membru fondator al Clubului de Robotică din Colegiul Național „Constantin Brâncoveanu", a obținut locul 2 la concursul „Vianu SciTech".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143500" y="5130800"/>
            <a:ext cx="2086419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 în cadrul CNITV, c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ampion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ah, olimpic la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matematic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ă, 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participant la diverse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concursuri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antreprenoriat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 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dezvoltat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abilități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branding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marketing 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</a:t>
            </a:r>
            <a:r>
              <a:rPr lang="en-US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</a:t>
            </a:r>
            <a:r>
              <a:rPr lang="en-US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leadership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7340600" y="5130799"/>
            <a:ext cx="2086419" cy="146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 în cadrul CNITV, pasionat de domeniul </a:t>
            </a:r>
            <a:r>
              <a:rPr lang="ro-RO" sz="1200" dirty="0" err="1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tech</a:t>
            </a:r>
            <a:r>
              <a:rPr lang="ro-RO" sz="1200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membru activ în domeniul civic, implicat cu seriozitate în proiectele la care este participant. Perseverența îl reflectă.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9556750" y="5130800"/>
            <a:ext cx="2086419" cy="1232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174" dirty="0">
                <a:solidFill>
                  <a:srgbClr val="3A42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 în cadrul CNITV, medaliat cu aur la concursul național „Be Legal! Be Cool!", membru în Consiliul Consultativ al Copiilor sub egida PMB și UNICEF România.</a:t>
            </a:r>
            <a:endParaRPr lang="en-US" sz="1174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42036A1-CCE8-E573-F7D2-B733ABB6FB07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F9A7BD5B-12C2-1A63-59A0-765320C6099A}"/>
              </a:ext>
            </a:extLst>
          </p:cNvPr>
          <p:cNvSpPr txBox="1">
            <a:spLocks/>
          </p:cNvSpPr>
          <p:nvPr/>
        </p:nvSpPr>
        <p:spPr>
          <a:xfrm>
            <a:off x="304800" y="572770"/>
            <a:ext cx="5670551" cy="157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4200" kern="120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>
              <a:lnSpc>
                <a:spcPts val="6120"/>
              </a:lnSpc>
            </a:pPr>
            <a:r>
              <a:rPr lang="en-US" sz="6000" b="1" kern="0" spc="-100" dirty="0"/>
              <a:t>WHO ARE WE?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9100" y="2882900"/>
            <a:ext cx="4876800" cy="3175000"/>
          </a:xfrm>
          <a:prstGeom prst="roundRect">
            <a:avLst>
              <a:gd name="adj" fmla="val 3200"/>
            </a:avLst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Simbolul SIGNals: o mână albă și una roșie în jurul unei unde sonore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429500" y="3279775"/>
            <a:ext cx="3556000" cy="2381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8950" y="3374453"/>
            <a:ext cx="6148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 = o </a:t>
            </a:r>
            <a:r>
              <a:rPr lang="en-US" sz="15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platformă</a:t>
            </a:r>
            <a:r>
              <a:rPr lang="ro-RO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menită să faciliteze comunicarea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Elevul surd semnează,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iar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platforma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traduce semnele în text, live.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8950" y="4200016"/>
            <a:ext cx="614807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1.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Elevul semnează în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fața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dispozitivului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său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 intermediul camerei, AI-ul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recuno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aște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semnele.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Platforma trimite textul la profesor.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4.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Profesorul răspunde, iar elevul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citește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 dispozitivul lui.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8950" y="5301551"/>
            <a:ext cx="6148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Profesorul nu învață limbajul semnelor. Școala nu angajează pe nimeni în plus.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Elevul are, în sfârșit, o voce.</a:t>
            </a:r>
            <a:endParaRPr lang="en-US" sz="1500" dirty="0"/>
          </a:p>
        </p:txBody>
      </p:sp>
      <p:sp>
        <p:nvSpPr>
          <p:cNvPr id="9" name="Text 6"/>
          <p:cNvSpPr>
            <a:spLocks noGrp="1"/>
          </p:cNvSpPr>
          <p:nvPr>
            <p:ph type="title"/>
          </p:nvPr>
        </p:nvSpPr>
        <p:spPr>
          <a:xfrm>
            <a:off x="7373239" y="1098550"/>
            <a:ext cx="4329811" cy="1450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5610"/>
              </a:lnSpc>
              <a:buNone/>
            </a:pPr>
            <a:r>
              <a:rPr lang="en-US" sz="5500" b="1" i="0" kern="0" spc="-10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DO WE DO?</a:t>
            </a:r>
            <a:endParaRPr lang="en-US" sz="5500" dirty="0"/>
          </a:p>
        </p:txBody>
      </p:sp>
      <p:sp>
        <p:nvSpPr>
          <p:cNvPr id="10" name="Text 7"/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0651885-0953-CD99-9A2E-5B32FA40B340}"/>
              </a:ext>
            </a:extLst>
          </p:cNvPr>
          <p:cNvSpPr/>
          <p:nvPr/>
        </p:nvSpPr>
        <p:spPr>
          <a:xfrm>
            <a:off x="488950" y="1447102"/>
            <a:ext cx="552672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oră de curs înseamnă 50 de minute de explicații vorbite. Pentru un elev surd, înseamnă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50 de minute de liniște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Stă în bancă lângă colegi, dar lecția trece pe lângă el.</a:t>
            </a: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76663CF-12A0-CD6C-88A9-765F3404A67B}"/>
              </a:ext>
            </a:extLst>
          </p:cNvPr>
          <p:cNvSpPr/>
          <p:nvPr/>
        </p:nvSpPr>
        <p:spPr>
          <a:xfrm>
            <a:off x="488949" y="2548890"/>
            <a:ext cx="552672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Misiunea noastră: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fiecare elev surd să înțeleagă lecția în timp real, să pună întrebări și să participe, exact ca toți colegii lui.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2364"/>
            <a:ext cx="366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C93A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PENTRU CINE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73679"/>
            <a:ext cx="3662680" cy="1534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Trei oameni, aceeași oră de curs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78400" y="1628142"/>
            <a:ext cx="6400800" cy="103124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GraduationCa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2400" y="191516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2800" y="1856742"/>
            <a:ext cx="53893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Elevul surd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92800" y="2181864"/>
            <a:ext cx="5389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Vrea să înțeleagă lecția în timp real și să participe.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78400" y="2811779"/>
            <a:ext cx="6400800" cy="103124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2400" y="309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2800" y="3040379"/>
            <a:ext cx="53893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Profesorul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892800" y="3365500"/>
            <a:ext cx="5389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Vrea să predea normal, fără să știe limbajul semnelor.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78400" y="3995421"/>
            <a:ext cx="6400800" cy="103124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Hom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32400" y="428244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92800" y="4224021"/>
            <a:ext cx="53893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ro-RO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Părinți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892800" y="4549142"/>
            <a:ext cx="5389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Vor incluziune reală, nu doar prezență în catalog.</a:t>
            </a:r>
            <a:endParaRPr lang="en-US" sz="14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04B8F4C-9A38-1F7B-6A6F-0778AE17E006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CE47D0E-CED5-E59E-7B2A-E186C46C4BF5}"/>
              </a:ext>
            </a:extLst>
          </p:cNvPr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0911E5E-6AB9-7DB6-B246-6017E1A43AEF}"/>
              </a:ext>
            </a:extLst>
          </p:cNvPr>
          <p:cNvSpPr/>
          <p:nvPr/>
        </p:nvSpPr>
        <p:spPr>
          <a:xfrm>
            <a:off x="10820400" y="2032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4950" y="0"/>
            <a:ext cx="4146550" cy="2228850"/>
          </a:xfrm>
          <a:prstGeom prst="rect">
            <a:avLst/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GraduationCa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81975" y="638175"/>
            <a:ext cx="952500" cy="952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4950" y="2260600"/>
            <a:ext cx="4146550" cy="2330450"/>
          </a:xfrm>
          <a:prstGeom prst="rect">
            <a:avLst/>
          </a:prstGeom>
          <a:solidFill>
            <a:srgbClr val="E850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81975" y="2949575"/>
            <a:ext cx="952500" cy="952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4950" y="4629150"/>
            <a:ext cx="4146550" cy="2228850"/>
          </a:xfrm>
          <a:prstGeom prst="rect">
            <a:avLst/>
          </a:prstGeom>
          <a:solidFill>
            <a:srgbClr val="2630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Cha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1975" y="5267325"/>
            <a:ext cx="952500" cy="952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820400" y="2032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10" name="Text 5"/>
          <p:cNvSpPr>
            <a:spLocks noGrp="1"/>
          </p:cNvSpPr>
          <p:nvPr>
            <p:ph type="title"/>
          </p:nvPr>
        </p:nvSpPr>
        <p:spPr>
          <a:xfrm>
            <a:off x="368300" y="825500"/>
            <a:ext cx="4839970" cy="14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Cum este industria?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368300" y="3016250"/>
            <a:ext cx="5899531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≈23.000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persoane cu surditate profundă în România, dintre care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peste 2.000 de copii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Doar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~100 de interpreți autorizați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pentru toată țara: un interpret la 230 de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oameni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(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conf. 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Europa Liberă, 2022).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68300" y="4800600"/>
            <a:ext cx="589953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Problema e reală, iar locul e liber: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nu am găsit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nicio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soluție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concretă,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accesibil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ă,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construită special </a:t>
            </a:r>
            <a:r>
              <a:rPr lang="en-US" sz="15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pentru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mediul educațional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80830" y="1587500"/>
            <a:ext cx="603034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Competiția?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58952" y="3568700"/>
            <a:ext cx="10674096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 piață există patru tipuri de soluții: 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interpreții umani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greu de găsit la fiecare oră; 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aplicațiile de transcriere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care oferă doar text; 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aplicațiile pentru învățarea limbajului semnelor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care nu ajută în timpul lecției; și 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platformele educaționale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care nu sunt gândite pentru elevii surzi. 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 le pune pe toate într-un singur produs: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un dispozitiv pe fiecare bancă, care traduce semnele în text, live, în clasă.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77A5EE4-F874-3E4C-53DD-B7C9155AE473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27250"/>
            <a:ext cx="3048000" cy="3873500"/>
          </a:xfrm>
          <a:prstGeom prst="rect">
            <a:avLst/>
          </a:prstGeom>
          <a:solidFill>
            <a:srgbClr val="1C2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254000" y="3213100"/>
            <a:ext cx="2540000" cy="170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609600" y="685800"/>
            <a:ext cx="4709160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Business Model &amp; Costs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95587" y="1650835"/>
            <a:ext cx="8286813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Vindem școlilor, nu elevilor.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Veniturile vin dintr-o unică sursă: </a:t>
            </a:r>
            <a:r>
              <a:rPr lang="ro-RO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</a:t>
            </a:r>
            <a:r>
              <a:rPr lang="en-US" sz="16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ontracte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ro-RO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 instituții de învățământ</a:t>
            </a:r>
            <a:r>
              <a:rPr lang="ro-RO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ro-RO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r>
              <a:rPr lang="ro-RO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este gândit p</a:t>
            </a:r>
            <a:r>
              <a:rPr lang="en-US" sz="16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entru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familii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ro-RO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astfel încât </a:t>
            </a:r>
            <a:r>
              <a:rPr lang="en-US" sz="16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contul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elevului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 </a:t>
            </a:r>
            <a:r>
              <a:rPr lang="en-US" sz="1600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gratuit</a:t>
            </a: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en-US" sz="16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Plătește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instituția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câștigă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elevul</a:t>
            </a:r>
            <a:r>
              <a:rPr lang="en-US" sz="16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52799" y="3735260"/>
            <a:ext cx="82868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EFD21E7-493A-EBF3-C608-7DEF87F07074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48DAEE5-9E7C-136C-1ED3-2F84C6376D88}"/>
              </a:ext>
            </a:extLst>
          </p:cNvPr>
          <p:cNvSpPr/>
          <p:nvPr/>
        </p:nvSpPr>
        <p:spPr>
          <a:xfrm>
            <a:off x="3339261" y="3281508"/>
            <a:ext cx="487146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– €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0/an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b="1" dirty="0" err="1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Clasă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– €399/an: până la 5 elevi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Școală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– €1.490/an: elevi nelimitați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Contracte cu inspectorate și fonduri</a:t>
            </a:r>
            <a:endParaRPr lang="en-US" sz="13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7A64281-17EF-781D-9BC2-4C743465F168}"/>
              </a:ext>
            </a:extLst>
          </p:cNvPr>
          <p:cNvSpPr/>
          <p:nvPr/>
        </p:nvSpPr>
        <p:spPr>
          <a:xfrm>
            <a:off x="4953603" y="6134459"/>
            <a:ext cx="49707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Venit recurent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previzibil pentru școală și pentru noi.</a:t>
            </a:r>
            <a:endParaRPr lang="en-US" sz="13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34133FF-8FA6-0FD7-0312-6565E6884C45}"/>
              </a:ext>
            </a:extLst>
          </p:cNvPr>
          <p:cNvSpPr/>
          <p:nvPr/>
        </p:nvSpPr>
        <p:spPr>
          <a:xfrm>
            <a:off x="7058914" y="3281508"/>
            <a:ext cx="513308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Fixe: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~€25.000/an (dezvoltare, servere, licențe)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Variabile: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~€70/dispozitiv + ~€20/elev/an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Marketing:</a:t>
            </a: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~€5.000/an (demo-uri în școli)</a:t>
            </a:r>
            <a:endParaRPr lang="en-US" sz="13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C5E0BC3-1CE4-A834-A660-C59BD2C8DCB8}"/>
              </a:ext>
            </a:extLst>
          </p:cNvPr>
          <p:cNvSpPr/>
          <p:nvPr/>
        </p:nvSpPr>
        <p:spPr>
          <a:xfrm>
            <a:off x="3302000" y="2951167"/>
            <a:ext cx="3924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 generăm venit?</a:t>
            </a:r>
            <a:endParaRPr lang="en-US" sz="1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C76142B-7B8B-3B47-A358-C773271B6C58}"/>
              </a:ext>
            </a:extLst>
          </p:cNvPr>
          <p:cNvSpPr/>
          <p:nvPr/>
        </p:nvSpPr>
        <p:spPr>
          <a:xfrm>
            <a:off x="7058914" y="2933676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Costuri</a:t>
            </a:r>
            <a:endParaRPr lang="en-US" sz="15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0F0DA38-A829-2E2A-AFED-D22AEA5F03DF}"/>
              </a:ext>
            </a:extLst>
          </p:cNvPr>
          <p:cNvSpPr/>
          <p:nvPr/>
        </p:nvSpPr>
        <p:spPr>
          <a:xfrm>
            <a:off x="7226300" y="4601726"/>
            <a:ext cx="513308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Marjă pe abonament: ~80%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Cost per elev: ~€20/an (servere și AI)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Break-even: ~700 de elevi activi (anul 4)</a:t>
            </a:r>
            <a:endParaRPr lang="en-US" sz="13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2CDD80C-521A-B8FA-6FE1-A4E929FAA6D9}"/>
              </a:ext>
            </a:extLst>
          </p:cNvPr>
          <p:cNvSpPr/>
          <p:nvPr/>
        </p:nvSpPr>
        <p:spPr>
          <a:xfrm>
            <a:off x="7009257" y="4338980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Performanță financiară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 de marketing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30250" y="825500"/>
            <a:ext cx="719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Plan de marketing</a:t>
            </a:r>
            <a:endParaRPr lang="en-US" sz="4400" dirty="0"/>
          </a:p>
        </p:txBody>
      </p:sp>
      <p:sp>
        <p:nvSpPr>
          <p:cNvPr id="21" name="Subtitle"/>
          <p:cNvSpPr txBox="1"/>
          <p:nvPr/>
        </p:nvSpPr>
        <p:spPr>
          <a:xfrm>
            <a:off x="730239" y="1554480"/>
            <a:ext cx="108153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0"/>
              </a:spcAft>
              <a:buNone/>
            </a:pPr>
            <a:r>
              <a:rPr lang="ro-RO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Vindem prin încredere: </a:t>
            </a:r>
            <a:r>
              <a:rPr lang="ro-RO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demo în clasă → pilot gratuit → licență. Fiecare preț are publicul și canalul lui.</a:t>
            </a:r>
          </a:p>
        </p:txBody>
      </p:sp>
      <p:sp>
        <p:nvSpPr>
          <p:cNvPr id="22" name="Card 1"/>
          <p:cNvSpPr/>
          <p:nvPr/>
        </p:nvSpPr>
        <p:spPr>
          <a:xfrm>
            <a:off x="730239" y="2103120"/>
            <a:ext cx="3422233" cy="2395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23" name="Card 1 text"/>
          <p:cNvSpPr txBox="1"/>
          <p:nvPr/>
        </p:nvSpPr>
        <p:spPr>
          <a:xfrm>
            <a:off x="958839" y="2304288"/>
            <a:ext cx="2965033" cy="202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00"/>
              </a:lnSpc>
              <a:spcAft>
                <a:spcPts val="900"/>
              </a:spcAft>
              <a:buNone/>
            </a:pPr>
            <a:r>
              <a:rPr lang="ro-RO" sz="20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Clasă </a:t>
            </a:r>
            <a:r>
              <a:rPr lang="ro-RO" sz="20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€399/an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Cui: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școlilor de masă cu 1–5 elevi surzi integrați.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profesorii de sprijin și CJRAE, demo live în clasa elevului.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Argument: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 €35 pe lună pentru toată clasa.</a:t>
            </a:r>
          </a:p>
        </p:txBody>
      </p:sp>
      <p:sp>
        <p:nvSpPr>
          <p:cNvPr id="24" name="Card 2"/>
          <p:cNvSpPr/>
          <p:nvPr/>
        </p:nvSpPr>
        <p:spPr>
          <a:xfrm>
            <a:off x="4426793" y="2103120"/>
            <a:ext cx="3422233" cy="2395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25" name="Card 2 text"/>
          <p:cNvSpPr txBox="1"/>
          <p:nvPr/>
        </p:nvSpPr>
        <p:spPr>
          <a:xfrm>
            <a:off x="4655393" y="2304288"/>
            <a:ext cx="2965033" cy="202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00"/>
              </a:lnSpc>
              <a:spcAft>
                <a:spcPts val="900"/>
              </a:spcAft>
              <a:buNone/>
            </a:pPr>
            <a:r>
              <a:rPr lang="ro-RO" sz="20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Școală </a:t>
            </a:r>
            <a:r>
              <a:rPr lang="ro-RO" sz="20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€1.490/an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Cui: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școlilor speciale pentru elevi surzi și școlilor cu 4+ clase.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întâlniri cu directorii, rezultatele din pilot ca studiu de caz.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Argument: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la 4 clase, licența de școală e mai ieftină decât 4 × €399.</a:t>
            </a:r>
          </a:p>
        </p:txBody>
      </p:sp>
      <p:sp>
        <p:nvSpPr>
          <p:cNvPr id="26" name="Card 3"/>
          <p:cNvSpPr/>
          <p:nvPr/>
        </p:nvSpPr>
        <p:spPr>
          <a:xfrm>
            <a:off x="8123346" y="2103120"/>
            <a:ext cx="3422233" cy="2395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27" name="Card 3 text"/>
          <p:cNvSpPr txBox="1"/>
          <p:nvPr/>
        </p:nvSpPr>
        <p:spPr>
          <a:xfrm>
            <a:off x="8351946" y="2304288"/>
            <a:ext cx="2965033" cy="202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00"/>
              </a:lnSpc>
              <a:spcAft>
                <a:spcPts val="900"/>
              </a:spcAft>
              <a:buNone/>
            </a:pPr>
            <a:r>
              <a:rPr lang="ro-RO" sz="20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Inspectorate </a:t>
            </a:r>
            <a:r>
              <a:rPr lang="ro-RO" sz="20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&amp; fonduri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Cui: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inspectoratelor școlare, ONG-urilor și sponsorilor (CSR).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asociațiile surzilor și proiecte pe fonduri europene.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Argument: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singură semnătură acoperă școlile din tot județul.</a:t>
            </a:r>
          </a:p>
        </p:txBody>
      </p:sp>
      <p:sp>
        <p:nvSpPr>
          <p:cNvPr id="28" name="Funnel label"/>
          <p:cNvSpPr txBox="1"/>
          <p:nvPr/>
        </p:nvSpPr>
        <p:spPr>
          <a:xfrm>
            <a:off x="730239" y="470916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spcAft>
                <a:spcPts val="0"/>
              </a:spcAft>
              <a:buNone/>
            </a:pPr>
            <a:r>
              <a:rPr lang="ro-RO" sz="1200" b="1" spc="200" dirty="0">
                <a:solidFill>
                  <a:srgbClr val="C93A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PÂLNIA DE VÂNZARE</a:t>
            </a:r>
          </a:p>
        </p:txBody>
      </p:sp>
      <p:sp>
        <p:nvSpPr>
          <p:cNvPr id="29" name="Step 1"/>
          <p:cNvSpPr/>
          <p:nvPr/>
        </p:nvSpPr>
        <p:spPr>
          <a:xfrm>
            <a:off x="730239" y="5093208"/>
            <a:ext cx="1024128" cy="420624"/>
          </a:xfrm>
          <a:prstGeom prst="roundRect">
            <a:avLst>
              <a:gd name="adj" fmla="val 30000"/>
            </a:avLst>
          </a:prstGeom>
          <a:solidFill>
            <a:srgbClr val="1C25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ro-RO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Demo live</a:t>
            </a:r>
          </a:p>
        </p:txBody>
      </p:sp>
      <p:sp>
        <p:nvSpPr>
          <p:cNvPr id="30" name="Arrow 1"/>
          <p:cNvSpPr/>
          <p:nvPr/>
        </p:nvSpPr>
        <p:spPr>
          <a:xfrm>
            <a:off x="1836663" y="5221224"/>
            <a:ext cx="182880" cy="164592"/>
          </a:xfrm>
          <a:prstGeom prst="rightArrow">
            <a:avLst/>
          </a:prstGeom>
          <a:solidFill>
            <a:srgbClr val="B8BCD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31" name="Step 2"/>
          <p:cNvSpPr/>
          <p:nvPr/>
        </p:nvSpPr>
        <p:spPr>
          <a:xfrm>
            <a:off x="2101839" y="5093208"/>
            <a:ext cx="1024128" cy="420624"/>
          </a:xfrm>
          <a:prstGeom prst="roundRect">
            <a:avLst>
              <a:gd name="adj" fmla="val 30000"/>
            </a:avLst>
          </a:prstGeom>
          <a:solidFill>
            <a:srgbClr val="1C25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ro-RO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Pilot gratuit</a:t>
            </a:r>
          </a:p>
        </p:txBody>
      </p:sp>
      <p:sp>
        <p:nvSpPr>
          <p:cNvPr id="32" name="Arrow 2"/>
          <p:cNvSpPr/>
          <p:nvPr/>
        </p:nvSpPr>
        <p:spPr>
          <a:xfrm>
            <a:off x="3208263" y="5221224"/>
            <a:ext cx="182880" cy="164592"/>
          </a:xfrm>
          <a:prstGeom prst="rightArrow">
            <a:avLst/>
          </a:prstGeom>
          <a:solidFill>
            <a:srgbClr val="B8BCD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33" name="Step 3"/>
          <p:cNvSpPr/>
          <p:nvPr/>
        </p:nvSpPr>
        <p:spPr>
          <a:xfrm>
            <a:off x="3473439" y="5093208"/>
            <a:ext cx="1024128" cy="420624"/>
          </a:xfrm>
          <a:prstGeom prst="roundRect">
            <a:avLst>
              <a:gd name="adj" fmla="val 30000"/>
            </a:avLst>
          </a:prstGeom>
          <a:solidFill>
            <a:srgbClr val="E850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ro-RO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Clasă</a:t>
            </a:r>
          </a:p>
        </p:txBody>
      </p:sp>
      <p:sp>
        <p:nvSpPr>
          <p:cNvPr id="34" name="Arrow 3"/>
          <p:cNvSpPr/>
          <p:nvPr/>
        </p:nvSpPr>
        <p:spPr>
          <a:xfrm>
            <a:off x="4579863" y="5221224"/>
            <a:ext cx="182880" cy="164592"/>
          </a:xfrm>
          <a:prstGeom prst="rightArrow">
            <a:avLst/>
          </a:prstGeom>
          <a:solidFill>
            <a:srgbClr val="B8BCD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35" name="Step 4"/>
          <p:cNvSpPr/>
          <p:nvPr/>
        </p:nvSpPr>
        <p:spPr>
          <a:xfrm>
            <a:off x="4845039" y="5093208"/>
            <a:ext cx="1024128" cy="420624"/>
          </a:xfrm>
          <a:prstGeom prst="roundRect">
            <a:avLst>
              <a:gd name="adj" fmla="val 30000"/>
            </a:avLst>
          </a:prstGeom>
          <a:solidFill>
            <a:srgbClr val="E850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ro-RO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Școală</a:t>
            </a:r>
          </a:p>
        </p:txBody>
      </p:sp>
      <p:sp>
        <p:nvSpPr>
          <p:cNvPr id="36" name="Arrow 4"/>
          <p:cNvSpPr/>
          <p:nvPr/>
        </p:nvSpPr>
        <p:spPr>
          <a:xfrm>
            <a:off x="5951463" y="5221224"/>
            <a:ext cx="182880" cy="164592"/>
          </a:xfrm>
          <a:prstGeom prst="rightArrow">
            <a:avLst/>
          </a:prstGeom>
          <a:solidFill>
            <a:srgbClr val="B8BCD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o-RO"/>
          </a:p>
        </p:txBody>
      </p:sp>
      <p:sp>
        <p:nvSpPr>
          <p:cNvPr id="37" name="Step 5"/>
          <p:cNvSpPr/>
          <p:nvPr/>
        </p:nvSpPr>
        <p:spPr>
          <a:xfrm>
            <a:off x="6216639" y="5093208"/>
            <a:ext cx="1024128" cy="420624"/>
          </a:xfrm>
          <a:prstGeom prst="roundRect">
            <a:avLst>
              <a:gd name="adj" fmla="val 30000"/>
            </a:avLst>
          </a:prstGeom>
          <a:solidFill>
            <a:srgbClr val="E850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ro-RO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Județ</a:t>
            </a:r>
          </a:p>
        </p:txBody>
      </p:sp>
      <p:sp>
        <p:nvSpPr>
          <p:cNvPr id="38" name="Budget label"/>
          <p:cNvSpPr txBox="1"/>
          <p:nvPr/>
        </p:nvSpPr>
        <p:spPr>
          <a:xfrm>
            <a:off x="7726679" y="4709160"/>
            <a:ext cx="38189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spcAft>
                <a:spcPts val="0"/>
              </a:spcAft>
              <a:buNone/>
            </a:pPr>
            <a:r>
              <a:rPr lang="ro-RO" sz="1200" b="1" spc="200" dirty="0">
                <a:solidFill>
                  <a:srgbClr val="C93A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BUGET MARKETING</a:t>
            </a:r>
          </a:p>
        </p:txBody>
      </p:sp>
      <p:sp>
        <p:nvSpPr>
          <p:cNvPr id="39" name="Budget"/>
          <p:cNvSpPr txBox="1"/>
          <p:nvPr/>
        </p:nvSpPr>
        <p:spPr>
          <a:xfrm>
            <a:off x="7726679" y="5056632"/>
            <a:ext cx="38189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1: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€1.000</a:t>
            </a: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  An 3: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€10.000</a:t>
            </a:r>
            <a:r>
              <a:rPr lang="ro-RO" sz="13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  An 5: </a:t>
            </a:r>
            <a:r>
              <a:rPr lang="ro-RO" sz="13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€15.000</a:t>
            </a:r>
          </a:p>
          <a:p>
            <a:pPr marL="0" indent="0" algn="l">
              <a:lnSpc>
                <a:spcPts val="1700"/>
              </a:lnSpc>
              <a:spcAft>
                <a:spcPts val="0"/>
              </a:spcAft>
              <a:buNone/>
            </a:pPr>
            <a:r>
              <a:rPr lang="ro-RO" sz="1200" dirty="0">
                <a:solidFill>
                  <a:srgbClr val="4A50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~10% din venit începând cu anul 4.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384F6A2-9239-4062-255B-4F92B2A759BB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30250" y="825500"/>
            <a:ext cx="719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Proiecții financiare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0250" y="1987550"/>
            <a:ext cx="48988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Venituri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6350" y="2330450"/>
            <a:ext cx="4806633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1: 10 clase + 1 școală, 45 elevi → €5.500</a:t>
            </a:r>
            <a:endParaRPr lang="en-US" sz="1400" dirty="0"/>
          </a:p>
          <a:p>
            <a:pPr marL="169418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3: 90 clase + 20 școli, 570 elevi → €65.700</a:t>
            </a:r>
            <a:endParaRPr lang="en-US" sz="1400" dirty="0"/>
          </a:p>
          <a:p>
            <a:pPr marL="169418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5: 240 clase + 55 școli, 1.545 elevi → €177.700</a:t>
            </a:r>
            <a:endParaRPr lang="ro-RO" sz="1400" dirty="0">
              <a:solidFill>
                <a:srgbClr val="1C255E"/>
              </a:solidFill>
              <a:latin typeface="Nunito Sans" pitchFamily="34" charset="0"/>
              <a:ea typeface="Nunito Sans" pitchFamily="34" charset="-122"/>
              <a:cs typeface="Nunito Sans" pitchFamily="34" charset="-120"/>
            </a:endParaRPr>
          </a:p>
          <a:p>
            <a:pPr marL="169418" indent="-169418">
              <a:buSzPct val="100000"/>
              <a:buChar char="•"/>
            </a:pPr>
            <a:r>
              <a:rPr lang="ro-RO" sz="1400" dirty="0">
                <a:solidFill>
                  <a:srgbClr val="1C255E"/>
                </a:solidFill>
                <a:latin typeface="Nunito Sans" pitchFamily="34" charset="0"/>
              </a:rPr>
              <a:t>Model ideal de consumator-</a:t>
            </a:r>
            <a:r>
              <a:rPr lang="ro-RO" sz="1400" dirty="0" err="1">
                <a:solidFill>
                  <a:srgbClr val="1C255E"/>
                </a:solidFill>
                <a:latin typeface="Nunito Sans" pitchFamily="34" charset="0"/>
              </a:rPr>
              <a:t>Scoala</a:t>
            </a:r>
            <a:r>
              <a:rPr lang="ro-RO" sz="1400" dirty="0">
                <a:solidFill>
                  <a:srgbClr val="1C255E"/>
                </a:solidFill>
                <a:latin typeface="Nunito Sans" pitchFamily="34" charset="0"/>
              </a:rPr>
              <a:t> speciala </a:t>
            </a:r>
            <a:r>
              <a:rPr lang="en-US" sz="1400" dirty="0">
                <a:solidFill>
                  <a:srgbClr val="1C255E"/>
                </a:solidFill>
                <a:latin typeface="Nunito Sans" pitchFamily="34" charset="0"/>
              </a:rPr>
              <a:t>“</a:t>
            </a:r>
            <a:r>
              <a:rPr lang="en-US" sz="1400" dirty="0" err="1">
                <a:solidFill>
                  <a:srgbClr val="1C255E"/>
                </a:solidFill>
                <a:latin typeface="Nunito Sans" pitchFamily="34" charset="0"/>
              </a:rPr>
              <a:t>Sfanta</a:t>
            </a:r>
            <a:r>
              <a:rPr lang="en-US" sz="1400" dirty="0">
                <a:solidFill>
                  <a:srgbClr val="1C255E"/>
                </a:solidFill>
                <a:latin typeface="Nunito Sans" pitchFamily="34" charset="0"/>
              </a:rPr>
              <a:t> Maria”-</a:t>
            </a:r>
            <a:r>
              <a:rPr lang="en-US" dirty="0"/>
              <a:t>1258 </a:t>
            </a:r>
            <a:r>
              <a:rPr lang="en-US" dirty="0" err="1"/>
              <a:t>elevi</a:t>
            </a:r>
            <a:r>
              <a:rPr lang="en-US" dirty="0"/>
              <a:t> cu </a:t>
            </a:r>
            <a:r>
              <a:rPr lang="en-US" dirty="0" err="1"/>
              <a:t>deficienta</a:t>
            </a:r>
            <a:r>
              <a:rPr lang="en-US" dirty="0"/>
              <a:t> de </a:t>
            </a:r>
            <a:r>
              <a:rPr lang="en-US" dirty="0" err="1"/>
              <a:t>auz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0250" y="3841750"/>
            <a:ext cx="48988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Profitabilitate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4832" y="4184650"/>
            <a:ext cx="48066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1: −€28.600 (investiție)</a:t>
            </a:r>
            <a:endParaRPr lang="en-US" sz="1400" dirty="0"/>
          </a:p>
          <a:p>
            <a:pPr marL="169418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3: −€5.900</a:t>
            </a:r>
            <a:endParaRPr lang="en-US" sz="1400" dirty="0"/>
          </a:p>
          <a:p>
            <a:pPr marL="169418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5: +€59.000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21450" y="1987550"/>
            <a:ext cx="502310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Break-even: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în anul 4 (~700 de elevi activi)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21450" y="2603500"/>
            <a:ext cx="50231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Pornim mic:</a:t>
            </a: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licența Clasă (€399) e ușa de intrare; școlile cu 4+ clase trec pe licența Școală (€1.490).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21450" y="4114800"/>
            <a:ext cx="502310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Scalare:</a:t>
            </a:r>
            <a:r>
              <a:rPr lang="en-US" sz="14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venitul vine doar din licențe; fiecare elev nou costă ~€70 (dispozitiv) + ~€20/an (servere). Din anul 4, profitul crește cu fiecare licență.</a:t>
            </a:r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384F6A2-9239-4062-255B-4F92B2A759BB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13301500-10E1-0763-D83A-0F5F4E73798F}"/>
              </a:ext>
            </a:extLst>
          </p:cNvPr>
          <p:cNvSpPr txBox="1"/>
          <p:nvPr/>
        </p:nvSpPr>
        <p:spPr>
          <a:xfrm>
            <a:off x="111967" y="1966714"/>
            <a:ext cx="552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     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207500" y="2032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09600" y="685800"/>
            <a:ext cx="719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Cum vedem viitorul?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19200" y="1784350"/>
            <a:ext cx="105498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În următorul an vrem să testăm SIGNals într-o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școală pilot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cu elevi și profesori reali, și să îmbunătățim produsul pe baza feedbackului lor.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2743200"/>
            <a:ext cx="105498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Vrem să antrenăm recunoașterea pe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limba semnelor române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oficială din 2020, ca traducerea din semne în text să fie cât mai precisă.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3702050"/>
            <a:ext cx="105498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 termen lung, SIGNals poate ajunge în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toate școlile</a:t>
            </a: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cu elevi surzi și poate fi folosit oriunde contează comunicarea: la cursuri, conferințe sau în instituții publice.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9200" y="5003800"/>
            <a:ext cx="1054982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elev surd nu ar trebui să aleagă între a fi în clasă și a înțelege lecția. </a:t>
            </a:r>
            <a:r>
              <a:rPr lang="en-US" sz="1500" b="1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 SIGNals, le poate avea pe amândouă.</a:t>
            </a:r>
            <a:endParaRPr lang="en-US" sz="15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959BB94-B08A-DA28-2002-BFEE0AEAB724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C93A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PAȘII URMĂTORI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4127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 la prototip la școli reale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31850" y="426847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C255E"/>
          </a:solidFill>
          <a:ln w="381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4693927"/>
            <a:ext cx="25638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095242"/>
            <a:ext cx="256387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Prototip la hackathon: platformă web și insigne demo.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4250" y="426847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4A4A90"/>
          </a:solidFill>
          <a:ln w="381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05200" y="4693927"/>
            <a:ext cx="25638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5200" y="509524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Testare într-o școală cu elevi și profesori reali.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6650" y="426847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A04A6E"/>
          </a:solidFill>
          <a:ln w="381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7600" y="4693927"/>
            <a:ext cx="25638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Îmbunătățire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7600" y="509524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 multe semne, traducere mai precisă, feedback.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09050" y="426847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8504B"/>
          </a:solidFill>
          <a:ln w="381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90000" y="4693927"/>
            <a:ext cx="25638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Extindere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90000" y="509524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 multe școli și parteneriate cu asociații.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389127"/>
            <a:ext cx="105664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C255E"/>
              </a:gs>
              <a:gs pos="100000">
                <a:srgbClr val="E8504B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1455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A709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36D071B-DDB4-F6FF-0A1B-A4406C8B1A01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4AB7E87-DEC6-AB31-BC56-96142A186CE6}"/>
              </a:ext>
            </a:extLst>
          </p:cNvPr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371AEBB4-371F-FF1C-03F6-23A44469C067}"/>
              </a:ext>
            </a:extLst>
          </p:cNvPr>
          <p:cNvSpPr/>
          <p:nvPr/>
        </p:nvSpPr>
        <p:spPr>
          <a:xfrm>
            <a:off x="10820400" y="2032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MVP-UL NOSTRU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4127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Ce am construit la hackathon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642"/>
            <a:ext cx="5156200" cy="3769360"/>
          </a:xfrm>
          <a:prstGeom prst="roundRect">
            <a:avLst>
              <a:gd name="adj" fmla="val 4043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2800" y="2072642"/>
            <a:ext cx="5156200" cy="3769360"/>
          </a:xfrm>
          <a:custGeom>
            <a:avLst/>
            <a:gdLst/>
            <a:ahLst/>
            <a:cxnLst/>
            <a:rect l="l" t="t" r="r" b="b"/>
            <a:pathLst>
              <a:path w="5156200" h="37693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5003800" y="0"/>
                </a:lnTo>
                <a:arcTo wR="152400" hR="152400" stAng="16200000" swAng="5400000"/>
                <a:lnTo>
                  <a:pt x="515620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6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7600" y="2428242"/>
            <a:ext cx="46829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Funcționează deja</a:t>
            </a:r>
            <a:endParaRPr lang="en-US" sz="2000" dirty="0"/>
          </a:p>
        </p:txBody>
      </p:sp>
      <p:pic>
        <p:nvPicPr>
          <p:cNvPr id="7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2885442"/>
            <a:ext cx="279400" cy="279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4000" y="28917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3D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Platforma web pentru elev și profesor</a:t>
            </a:r>
            <a:endParaRPr lang="en-US" sz="1500" dirty="0"/>
          </a:p>
        </p:txBody>
      </p:sp>
      <p:pic>
        <p:nvPicPr>
          <p:cNvPr id="9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3317242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4000" y="33235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3D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Transcrierea live a lecției</a:t>
            </a:r>
            <a:endParaRPr lang="en-US" sz="1500" dirty="0"/>
          </a:p>
        </p:txBody>
      </p:sp>
      <p:pic>
        <p:nvPicPr>
          <p:cNvPr id="11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3749042"/>
            <a:ext cx="279400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24000" y="37553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3D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Întrebări de la elev la profesor</a:t>
            </a:r>
            <a:endParaRPr lang="en-US" sz="1500" dirty="0"/>
          </a:p>
        </p:txBody>
      </p:sp>
      <p:pic>
        <p:nvPicPr>
          <p:cNvPr id="13" name="Image 3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4180842"/>
            <a:ext cx="279400" cy="279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4000" y="41871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3D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[altă funcție finalizată]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223000" y="2072642"/>
            <a:ext cx="5156200" cy="3769360"/>
          </a:xfrm>
          <a:prstGeom prst="roundRect">
            <a:avLst>
              <a:gd name="adj" fmla="val 4043"/>
            </a:avLst>
          </a:prstGeom>
          <a:solidFill>
            <a:srgbClr val="FB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223000" y="2072642"/>
            <a:ext cx="5156200" cy="3769360"/>
          </a:xfrm>
          <a:custGeom>
            <a:avLst/>
            <a:gdLst/>
            <a:ahLst/>
            <a:cxnLst/>
            <a:rect l="l" t="t" r="r" b="b"/>
            <a:pathLst>
              <a:path w="5156200" h="37693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5003800" y="0"/>
                </a:lnTo>
                <a:arcTo wR="152400" hR="152400" stAng="16200000" swAng="5400000"/>
                <a:lnTo>
                  <a:pt x="515620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E85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527800" y="2428242"/>
            <a:ext cx="46829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Urmează</a:t>
            </a:r>
            <a:endParaRPr lang="en-US" sz="2000" dirty="0"/>
          </a:p>
        </p:txBody>
      </p:sp>
      <p:pic>
        <p:nvPicPr>
          <p:cNvPr id="18" name="Image 4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7800" y="2885442"/>
            <a:ext cx="279400" cy="279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34200" y="28917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Insignele fizice, ca prototip hardware</a:t>
            </a:r>
            <a:endParaRPr lang="en-US" sz="1500" dirty="0"/>
          </a:p>
        </p:txBody>
      </p:sp>
      <p:pic>
        <p:nvPicPr>
          <p:cNvPr id="20" name="Image 5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7800" y="3317242"/>
            <a:ext cx="279400" cy="279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4200" y="33235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Traducere completă în limbajul semnelor</a:t>
            </a:r>
            <a:endParaRPr lang="en-US" sz="1500" dirty="0"/>
          </a:p>
        </p:txBody>
      </p:sp>
      <p:pic>
        <p:nvPicPr>
          <p:cNvPr id="22" name="Image 6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7800" y="3749042"/>
            <a:ext cx="279400" cy="279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34200" y="37553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Testare cu elevi surzi</a:t>
            </a:r>
            <a:endParaRPr lang="en-US" sz="1500" dirty="0"/>
          </a:p>
        </p:txBody>
      </p:sp>
      <p:pic>
        <p:nvPicPr>
          <p:cNvPr id="24" name="Image 7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7800" y="4180842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34200" y="418719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1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[altă funcție planificată]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111455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98C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CAC7B79-229A-9568-37C6-6F235661AFC8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chemeClr val="bg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629C0E5-C171-3E46-6DE6-A871258AFD99}"/>
              </a:ext>
            </a:extLst>
          </p:cNvPr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A2BE096-F4D6-FDB2-10E1-6B6E70A6E883}"/>
              </a:ext>
            </a:extLst>
          </p:cNvPr>
          <p:cNvSpPr/>
          <p:nvPr/>
        </p:nvSpPr>
        <p:spPr>
          <a:xfrm>
            <a:off x="10820400" y="2032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93900"/>
            <a:ext cx="4055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C93A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DEMO LIVE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95221"/>
            <a:ext cx="405511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4000" b="1" i="0" dirty="0">
                <a:solidFill>
                  <a:srgbClr val="1C25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oră de curs, în două minute</a:t>
            </a:r>
            <a:endParaRPr lang="en-US" sz="4000" dirty="0"/>
          </a:p>
        </p:txBody>
      </p:sp>
      <p:pic>
        <p:nvPicPr>
          <p:cNvPr id="4" name="Image 0" descr="Iconița aplicației SIGNal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644900"/>
            <a:ext cx="1016000" cy="1016000"/>
          </a:xfrm>
          <a:prstGeom prst="roundRect">
            <a:avLst>
              <a:gd name="adj" fmla="val 225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5359400" y="2391412"/>
            <a:ext cx="6019800" cy="0"/>
          </a:xfrm>
          <a:prstGeom prst="line">
            <a:avLst/>
          </a:prstGeom>
          <a:noFill/>
          <a:ln w="12700">
            <a:solidFill>
              <a:srgbClr val="DD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59400" y="1640842"/>
            <a:ext cx="622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134100" y="1788164"/>
            <a:ext cx="540245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Elevul semnează în fața tabletei de pe bancă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59400" y="3326134"/>
            <a:ext cx="6019800" cy="0"/>
          </a:xfrm>
          <a:prstGeom prst="line">
            <a:avLst/>
          </a:prstGeom>
          <a:noFill/>
          <a:ln w="12700">
            <a:solidFill>
              <a:srgbClr val="DD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59400" y="2575564"/>
            <a:ext cx="622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134100" y="2722879"/>
            <a:ext cx="540245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Camera tabletei urmărește scheletul palmei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59400" y="4260849"/>
            <a:ext cx="6019800" cy="0"/>
          </a:xfrm>
          <a:prstGeom prst="line">
            <a:avLst/>
          </a:prstGeom>
          <a:noFill/>
          <a:ln w="12700">
            <a:solidFill>
              <a:srgbClr val="DD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59400" y="3510279"/>
            <a:ext cx="622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134100" y="3657600"/>
            <a:ext cx="540245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AI-ul traduce semnele în text, live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59400" y="4445000"/>
            <a:ext cx="622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0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134100" y="4592321"/>
            <a:ext cx="540245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C25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Textul apare în aplicația profesorului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455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A709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</a:t>
            </a:r>
            <a:endParaRPr lang="en-US" sz="1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76A7D49-0A4D-01E5-1337-98CA35311DFB}"/>
              </a:ext>
            </a:extLst>
          </p:cNvPr>
          <p:cNvSpPr/>
          <p:nvPr/>
        </p:nvSpPr>
        <p:spPr>
          <a:xfrm>
            <a:off x="304800" y="6416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signals.akiokun.com</a:t>
            </a:r>
            <a:endParaRPr lang="en-US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CEACD09-2CAD-64BB-2847-D19DD52FDECE}"/>
              </a:ext>
            </a:extLst>
          </p:cNvPr>
          <p:cNvSpPr/>
          <p:nvPr/>
        </p:nvSpPr>
        <p:spPr>
          <a:xfrm>
            <a:off x="368300" y="2032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xclsv.ideas</a:t>
            </a:r>
            <a:endParaRPr lang="en-US" sz="12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47A2A737-EFFA-09DD-70AA-63F08B89593E}"/>
              </a:ext>
            </a:extLst>
          </p:cNvPr>
          <p:cNvSpPr/>
          <p:nvPr/>
        </p:nvSpPr>
        <p:spPr>
          <a:xfrm>
            <a:off x="10820400" y="2032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D3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SIGNals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bolul SIGNals"/>
          <p:cNvPicPr>
            <a:picLocks noChangeAspect="1"/>
          </p:cNvPicPr>
          <p:nvPr/>
        </p:nvPicPr>
        <p:blipFill>
          <a:blip r:embed="rId3"/>
          <a:srcRect l="-86" r="-86"/>
          <a:stretch/>
        </p:blipFill>
        <p:spPr>
          <a:xfrm>
            <a:off x="4572000" y="1327783"/>
            <a:ext cx="3048000" cy="20383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3687421" y="3620133"/>
            <a:ext cx="481707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6000" b="1" i="0" dirty="0">
                <a:solidFill>
                  <a:srgbClr val="F7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Mulțumim!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353439" y="4636133"/>
            <a:ext cx="148504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6A6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Întrebări?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079088" y="5052693"/>
            <a:ext cx="4033744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1960"/>
              </a:lnSpc>
            </a:pPr>
            <a:r>
              <a:rPr lang="ro-RO" sz="1400" dirty="0">
                <a:solidFill>
                  <a:srgbClr val="AEB6D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vnuhack.apex@gmail.com</a:t>
            </a:r>
            <a:r>
              <a:rPr lang="en-US" sz="1400" dirty="0">
                <a:solidFill>
                  <a:srgbClr val="AEB6D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</a:t>
            </a:r>
            <a:r>
              <a:rPr lang="ro-RO" sz="1400" dirty="0">
                <a:solidFill>
                  <a:srgbClr val="AEB6D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</a:t>
            </a:r>
            <a:r>
              <a:rPr lang="en-US" sz="1400" dirty="0">
                <a:solidFill>
                  <a:srgbClr val="AEB6D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ignals.akiokun.com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als – Smart Badge">
  <a:themeElements>
    <a:clrScheme name="SIGNals – Smart Badge">
      <a:dk1>
        <a:srgbClr val="1C255E"/>
      </a:dk1>
      <a:lt1>
        <a:srgbClr val="FBF8F2"/>
      </a:lt1>
      <a:dk2>
        <a:srgbClr val="545A83"/>
      </a:dk2>
      <a:lt2>
        <a:srgbClr val="E5E3E3"/>
      </a:lt2>
      <a:accent1>
        <a:srgbClr val="E8504B"/>
      </a:accent1>
      <a:accent2>
        <a:srgbClr val="6A7092"/>
      </a:accent2>
      <a:accent3>
        <a:srgbClr val="F26A65"/>
      </a:accent3>
      <a:accent4>
        <a:srgbClr val="C93A36"/>
      </a:accent4>
      <a:accent5>
        <a:srgbClr val="26307A"/>
      </a:accent5>
      <a:accent6>
        <a:srgbClr val="3A4268"/>
      </a:accent6>
      <a:hlink>
        <a:srgbClr val="0563C1"/>
      </a:hlink>
      <a:folHlink>
        <a:srgbClr val="954F72"/>
      </a:folHlink>
    </a:clrScheme>
    <a:fontScheme name="SIGNals – Smart Badge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2124</Words>
  <Application>Microsoft Office PowerPoint</Application>
  <PresentationFormat>Ecran lat</PresentationFormat>
  <Paragraphs>199</Paragraphs>
  <Slides>14</Slides>
  <Notes>14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8" baseType="lpstr">
      <vt:lpstr>Arial</vt:lpstr>
      <vt:lpstr>Nunito Sans</vt:lpstr>
      <vt:lpstr>Rubik</vt:lpstr>
      <vt:lpstr>SIGNals – Smart Badge</vt:lpstr>
      <vt:lpstr>SIGNals</vt:lpstr>
      <vt:lpstr>Prezentare PowerPoint</vt:lpstr>
      <vt:lpstr>WHAT DO WE DO?</vt:lpstr>
      <vt:lpstr>Trei oameni, aceeași oră de curs</vt:lpstr>
      <vt:lpstr>Cum este industria?</vt:lpstr>
      <vt:lpstr>Competiția?</vt:lpstr>
      <vt:lpstr>Business Model &amp; Costs</vt:lpstr>
      <vt:lpstr>Plan de marketing</vt:lpstr>
      <vt:lpstr>Proiecții financiare</vt:lpstr>
      <vt:lpstr>Cum vedem viitorul?</vt:lpstr>
      <vt:lpstr>De la prototip la școli reale</vt:lpstr>
      <vt:lpstr>Ce am construit la hackathon</vt:lpstr>
      <vt:lpstr>O oră de curs, în două minute</vt:lpstr>
      <vt:lpstr>Mulțumim!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– Smart Badge</dc:title>
  <dc:subject/>
  <dc:creator>Stefan Peter Florea</dc:creator>
  <cp:lastModifiedBy>Iulia APD</cp:lastModifiedBy>
  <cp:revision>3</cp:revision>
  <dcterms:created xsi:type="dcterms:W3CDTF">2026-10-04T20:30:30Z</dcterms:created>
  <dcterms:modified xsi:type="dcterms:W3CDTF">2026-10-05T08:33:13Z</dcterms:modified>
</cp:coreProperties>
</file>