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9" r:id="rId4"/>
    <p:sldId id="267" r:id="rId5"/>
    <p:sldId id="260" r:id="rId6"/>
    <p:sldId id="261" r:id="rId7"/>
    <p:sldId id="263" r:id="rId8"/>
    <p:sldId id="279" r:id="rId9"/>
    <p:sldId id="265" r:id="rId10"/>
    <p:sldId id="266" r:id="rId11"/>
    <p:sldId id="275" r:id="rId12"/>
    <p:sldId id="271" r:id="rId13"/>
    <p:sldId id="268" r:id="rId14"/>
    <p:sldId id="278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ulia APD" userId="ca17bbdb33c55ad4" providerId="LiveId" clId="{F31124DB-8D39-45C9-AAED-852F2F2C05A7}"/>
    <pc:docChg chg="undo custSel modSld">
      <pc:chgData name="Iulia APD" userId="ca17bbdb33c55ad4" providerId="LiveId" clId="{F31124DB-8D39-45C9-AAED-852F2F2C05A7}" dt="2026-10-05T08:46:17.941" v="22" actId="20577"/>
      <pc:docMkLst>
        <pc:docMk/>
      </pc:docMkLst>
      <pc:sldChg chg="modSp mod">
        <pc:chgData name="Iulia APD" userId="ca17bbdb33c55ad4" providerId="LiveId" clId="{F31124DB-8D39-45C9-AAED-852F2F2C05A7}" dt="2026-10-05T08:46:17.941" v="22" actId="20577"/>
        <pc:sldMkLst>
          <pc:docMk/>
          <pc:sldMk cId="0" sldId="263"/>
        </pc:sldMkLst>
        <pc:spChg chg="mod">
          <ac:chgData name="Iulia APD" userId="ca17bbdb33c55ad4" providerId="LiveId" clId="{F31124DB-8D39-45C9-AAED-852F2F2C05A7}" dt="2026-10-05T08:46:17.941" v="22" actId="20577"/>
          <ac:spMkLst>
            <pc:docMk/>
            <pc:sldMk cId="0" sldId="263"/>
            <ac:spMk id="13" creationId="{E48DAEE5-9E7C-136C-1ED3-2F84C6376D88}"/>
          </ac:spMkLst>
        </pc:spChg>
      </pc:sldChg>
      <pc:sldChg chg="modSp mod">
        <pc:chgData name="Iulia APD" userId="ca17bbdb33c55ad4" providerId="LiveId" clId="{F31124DB-8D39-45C9-AAED-852F2F2C05A7}" dt="2026-10-05T08:46:13.334" v="20" actId="368"/>
        <pc:sldMkLst>
          <pc:docMk/>
          <pc:sldMk cId="0" sldId="265"/>
        </pc:sldMkLst>
        <pc:spChg chg="mod">
          <ac:chgData name="Iulia APD" userId="ca17bbdb33c55ad4" providerId="LiveId" clId="{F31124DB-8D39-45C9-AAED-852F2F2C05A7}" dt="2026-10-05T08:46:13.334" v="20" actId="368"/>
          <ac:spMkLst>
            <pc:docMk/>
            <pc:sldMk cId="0" sldId="265"/>
            <ac:spMk id="6" creationId="{00000000-0000-0000-0000-000000000000}"/>
          </ac:spMkLst>
        </pc:spChg>
      </pc:sldChg>
      <pc:sldChg chg="delSp modSp mod">
        <pc:chgData name="Iulia APD" userId="ca17bbdb33c55ad4" providerId="LiveId" clId="{F31124DB-8D39-45C9-AAED-852F2F2C05A7}" dt="2026-10-05T08:44:58.345" v="9" actId="20577"/>
        <pc:sldMkLst>
          <pc:docMk/>
          <pc:sldMk cId="0" sldId="271"/>
        </pc:sldMkLst>
        <pc:spChg chg="mod">
          <ac:chgData name="Iulia APD" userId="ca17bbdb33c55ad4" providerId="LiveId" clId="{F31124DB-8D39-45C9-AAED-852F2F2C05A7}" dt="2026-10-05T08:44:48.238" v="0" actId="20577"/>
          <ac:spMkLst>
            <pc:docMk/>
            <pc:sldMk cId="0" sldId="271"/>
            <ac:spMk id="14" creationId="{00000000-0000-0000-0000-000000000000}"/>
          </ac:spMkLst>
        </pc:spChg>
        <pc:spChg chg="mod">
          <ac:chgData name="Iulia APD" userId="ca17bbdb33c55ad4" providerId="LiveId" clId="{F31124DB-8D39-45C9-AAED-852F2F2C05A7}" dt="2026-10-05T08:44:56.599" v="8" actId="1076"/>
          <ac:spMkLst>
            <pc:docMk/>
            <pc:sldMk cId="0" sldId="271"/>
            <ac:spMk id="15" creationId="{00000000-0000-0000-0000-000000000000}"/>
          </ac:spMkLst>
        </pc:spChg>
        <pc:spChg chg="mod">
          <ac:chgData name="Iulia APD" userId="ca17bbdb33c55ad4" providerId="LiveId" clId="{F31124DB-8D39-45C9-AAED-852F2F2C05A7}" dt="2026-10-05T08:44:58.345" v="9" actId="20577"/>
          <ac:spMkLst>
            <pc:docMk/>
            <pc:sldMk cId="0" sldId="271"/>
            <ac:spMk id="25" creationId="{00000000-0000-0000-0000-000000000000}"/>
          </ac:spMkLst>
        </pc:spChg>
        <pc:picChg chg="del">
          <ac:chgData name="Iulia APD" userId="ca17bbdb33c55ad4" providerId="LiveId" clId="{F31124DB-8D39-45C9-AAED-852F2F2C05A7}" dt="2026-10-05T08:44:49.469" v="1" actId="478"/>
          <ac:picMkLst>
            <pc:docMk/>
            <pc:sldMk cId="0" sldId="271"/>
            <ac:picMk id="13" creationId="{00000000-0000-0000-0000-000000000000}"/>
          </ac:picMkLst>
        </pc:picChg>
        <pc:picChg chg="del">
          <ac:chgData name="Iulia APD" userId="ca17bbdb33c55ad4" providerId="LiveId" clId="{F31124DB-8D39-45C9-AAED-852F2F2C05A7}" dt="2026-10-05T08:44:51.362" v="3" actId="478"/>
          <ac:picMkLst>
            <pc:docMk/>
            <pc:sldMk cId="0" sldId="271"/>
            <ac:picMk id="24" creationId="{00000000-0000-0000-0000-00000000000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03855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Deschidere: prezentăm SIGNals: fiecare elev surd are pe bancă un dispozitiv conectat la aceeași platformă ca profesorul. Elevul semnează, dispozitivul traduce în 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1: echipa. Fiecare membru spune numele, rolul și ce a construit.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3: ce face SIGNals, pe scurt, dispozitivul elevului traduce semnele în text pentru profesor, iar răspunsul profesorului ajunge ca text înapoi la elev.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Ne-am concentrat pe școli: utilizatorii direcți sunt elevul și profesorul.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4: contextul. Sursa cifrelor: Europa Liberă România, aprilie 2022. Raportul 1 la 230 e calculat din 23.000 / ~100.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5: cele patru tipuri de concurenți și cum se poziționează SIGNals.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Cine plătește și pentru ce. Contul elevului e gratuit; școala plătește licența: Clasă €399/an (până la 5 elevi, sub €35 pe lună pentru toată clasa) sau Școală €1.490/an (elevi nelimitați, rentabilă de la 4 clase). Dispozitivul (~€70 cost de producție) este inclus în licență. Break-even estimat în anul 4, la ~700 de elevi activi.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Planul de marketing, legat direct de prețuri. Clasă (€399/an) e ușa de intrare: o vindem școlilor de masă cu câțiva elevi surzi integrați, prin profesorii de sprijin și CJRAE. Școală (€1.490/an) devine rentabilă pentru școală de la 4 clase (4 × €399 = €1.596), deci o propunem școlilor speciale și școlilor care cresc. Inspectoratele și fondurile (CSR, proiecte europene, asociațiile surzilor) aduc contracte pentru mai multe școli deodată. Pâlnia: demo live, pilot gratuit un semestru, apoi licență. Buget: €5.000 în anul 1 (demo-uri în școli, cum apare la Business Model), €10.000 în anul 3, €15.000 în anul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Proiecții pe 1, 3 și 5 ani, calculate cu prețurile din Business Model. Venit = €399 × licențe Clasă + €1.490 × licențe Școală. Ipoteze: o licență Clasă are în medie 3 elevi, o licență Școală 15 elevi; fiecare elev nou primește un dispozitiv (~€70), fiecare elev activ costă ~€20/an (servere și AI). Costuri fixe: €25.000 (anii 1–3), €30.000 (anul 4), €35.000 (anul 5). Marketing: €5.000 / €8.000 / €10.000 / €12.000 / €15.000. An 1: 45 elevi, venit €5.480, costuri €34.050. An 2: 210 elevi, venit €24.900, costuri €48.750. An 3: 570 elevi, venit €65.710, costuri €71.600. An 4: 1.005 elevi, venit €115.990, costuri €92.550, primul an pe profit (+€23.400). An 5: 1.545 elevi, venit €177.710, costuri €118.700. Investiția cumulată se recuperează în anul 5. Contractele cu inspectoratele sunt incluse ca licențe Clasă/Școală cumpărate la nivel de județ.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10: viziunea și fraza de încheiere.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Viziunea după hackathon. Ajustați etapele după planul echipei.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Fiți sinceri cu juriul: ce merge acum și ce e încă în lucru. Mutați rândurile între coloane după starea reală a MVP-ului.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Scenariul demo-ului: tableta cu cameră încorporată detectează scheletul palmei elevului (punctele articulațiilor), recunoaște semnul și trimite textul în aplicația profesorului. Treceți la demo-ul live după acest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Încheiere și sesiune de întrebări.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1525" y="993775"/>
            <a:ext cx="5730875" cy="949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4200" dirty="0">
                <a:solidFill>
                  <a:srgbClr val="E8504B"/>
                </a:solidFill>
                <a:latin typeface="Rubik" pitchFamily="34" charset="0"/>
                <a:ea typeface="Rubik" pitchFamily="34" charset="-122"/>
                <a:cs typeface="Rubik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42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771525" y="2248535"/>
            <a:ext cx="10607675" cy="3796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background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1525" y="993775"/>
            <a:ext cx="5730875" cy="949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4200" dirty="0">
                <a:solidFill>
                  <a:srgbClr val="F7F5F0"/>
                </a:solidFill>
                <a:latin typeface="Rubik" pitchFamily="34" charset="0"/>
                <a:ea typeface="Rubik" pitchFamily="34" charset="-122"/>
                <a:cs typeface="Rubik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42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771525" y="2248535"/>
            <a:ext cx="10607675" cy="3796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F7F5F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background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1525" y="993775"/>
            <a:ext cx="5730875" cy="949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4200" dirty="0">
                <a:solidFill>
                  <a:srgbClr val="F7F5F0"/>
                </a:solidFill>
                <a:latin typeface="Rubik" pitchFamily="34" charset="0"/>
                <a:ea typeface="Rubik" pitchFamily="34" charset="-122"/>
                <a:cs typeface="Rubik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42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771525" y="2248535"/>
            <a:ext cx="10607675" cy="3796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F7F5F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1525" y="993775"/>
            <a:ext cx="5730875" cy="949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4200" dirty="0">
                <a:solidFill>
                  <a:srgbClr val="E8504B"/>
                </a:solidFill>
                <a:latin typeface="Rubik" pitchFamily="34" charset="0"/>
                <a:ea typeface="Rubik" pitchFamily="34" charset="-122"/>
                <a:cs typeface="Rubik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42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771525" y="2248535"/>
            <a:ext cx="10607675" cy="3796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>
            <a:alphaModFix amt="95000"/>
          </a:blip>
          <a:srcRect l="-146" r="-146"/>
          <a:stretch/>
        </p:blipFill>
        <p:spPr>
          <a:xfrm>
            <a:off x="6477000" y="1587500"/>
            <a:ext cx="4953000" cy="33083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211582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ro-RO" sz="1400" b="1" kern="0" spc="200" dirty="0">
                <a:solidFill>
                  <a:srgbClr val="F26A65"/>
                </a:solidFill>
                <a:latin typeface="+mj-lt"/>
                <a:ea typeface="Nunito Sans" pitchFamily="34" charset="-122"/>
                <a:cs typeface="Nunito Sans" pitchFamily="34" charset="-120"/>
              </a:rPr>
              <a:t>VIANU </a:t>
            </a:r>
            <a:r>
              <a:rPr lang="en-US" sz="1400" b="1" kern="0" spc="200" dirty="0">
                <a:solidFill>
                  <a:srgbClr val="F26A65"/>
                </a:solidFill>
                <a:latin typeface="+mj-lt"/>
                <a:ea typeface="Nunito Sans" pitchFamily="34" charset="-122"/>
                <a:cs typeface="Nunito Sans" pitchFamily="34" charset="-120"/>
              </a:rPr>
              <a:t>HACKATHON · TEMA „MIDDLEMAN”</a:t>
            </a:r>
            <a:endParaRPr lang="en-US" sz="1400" dirty="0">
              <a:latin typeface="+mj-lt"/>
            </a:endParaRPr>
          </a:p>
        </p:txBody>
      </p:sp>
      <p:sp>
        <p:nvSpPr>
          <p:cNvPr id="4" name="Text 1"/>
          <p:cNvSpPr>
            <a:spLocks noGrp="1"/>
          </p:cNvSpPr>
          <p:nvPr>
            <p:ph type="title"/>
          </p:nvPr>
        </p:nvSpPr>
        <p:spPr>
          <a:xfrm>
            <a:off x="812800" y="2618740"/>
            <a:ext cx="10883392" cy="1168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9000"/>
              </a:lnSpc>
              <a:buNone/>
            </a:pPr>
            <a:r>
              <a:rPr lang="en-US" sz="9000" b="1" i="0" kern="0" spc="-200" dirty="0">
                <a:solidFill>
                  <a:srgbClr val="F7F5F0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SIGN</a:t>
            </a:r>
            <a:r>
              <a:rPr lang="en-US" sz="9000" b="1" i="0" kern="0" spc="-200" dirty="0">
                <a:solidFill>
                  <a:srgbClr val="F26A65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als</a:t>
            </a:r>
            <a:endParaRPr lang="en-US" sz="9000" dirty="0"/>
          </a:p>
        </p:txBody>
      </p:sp>
      <p:sp>
        <p:nvSpPr>
          <p:cNvPr id="5" name="Text 2"/>
          <p:cNvSpPr/>
          <p:nvPr/>
        </p:nvSpPr>
        <p:spPr>
          <a:xfrm>
            <a:off x="812800" y="4015740"/>
            <a:ext cx="5363210" cy="751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60"/>
              </a:lnSpc>
              <a:buNone/>
            </a:pPr>
            <a:r>
              <a:rPr lang="ro-RO" sz="2200" dirty="0">
                <a:solidFill>
                  <a:srgbClr val="D3D8F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Platforma</a:t>
            </a:r>
            <a:r>
              <a:rPr lang="en-US" sz="2200" dirty="0">
                <a:solidFill>
                  <a:srgbClr val="D3D8F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care transformă limbajul semnelor în text, live, în clasă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6650" y="876300"/>
            <a:ext cx="5245100" cy="38100"/>
          </a:xfrm>
          <a:prstGeom prst="roundRect">
            <a:avLst>
              <a:gd name="adj" fmla="val 50000"/>
            </a:avLst>
          </a:prstGeom>
          <a:solidFill>
            <a:srgbClr val="E8504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398250" y="685800"/>
            <a:ext cx="419100" cy="419100"/>
          </a:xfrm>
          <a:prstGeom prst="ellipse">
            <a:avLst/>
          </a:prstGeom>
        </p:spPr>
      </p:pic>
      <p:pic>
        <p:nvPicPr>
          <p:cNvPr id="4" name="Image 1" descr="Membru al echipei 1"/>
          <p:cNvPicPr>
            <a:picLocks noChangeAspect="1"/>
          </p:cNvPicPr>
          <p:nvPr/>
        </p:nvPicPr>
        <p:blipFill>
          <a:blip r:embed="rId4"/>
          <a:srcRect t="36" b="36"/>
          <a:stretch/>
        </p:blipFill>
        <p:spPr>
          <a:xfrm>
            <a:off x="488950" y="2673350"/>
            <a:ext cx="2025650" cy="1644650"/>
          </a:xfrm>
          <a:prstGeom prst="roundRect">
            <a:avLst>
              <a:gd name="adj" fmla="val 4633"/>
            </a:avLst>
          </a:prstGeom>
        </p:spPr>
      </p:pic>
      <p:pic>
        <p:nvPicPr>
          <p:cNvPr id="5" name="Image 2" descr="Membru al echipei 2"/>
          <p:cNvPicPr>
            <a:picLocks noChangeAspect="1"/>
          </p:cNvPicPr>
          <p:nvPr/>
        </p:nvPicPr>
        <p:blipFill>
          <a:blip r:embed="rId5"/>
          <a:srcRect t="36" b="36"/>
          <a:stretch/>
        </p:blipFill>
        <p:spPr>
          <a:xfrm>
            <a:off x="2825750" y="2673350"/>
            <a:ext cx="2025650" cy="1644650"/>
          </a:xfrm>
          <a:prstGeom prst="roundRect">
            <a:avLst>
              <a:gd name="adj" fmla="val 4633"/>
            </a:avLst>
          </a:prstGeom>
        </p:spPr>
      </p:pic>
      <p:pic>
        <p:nvPicPr>
          <p:cNvPr id="6" name="Image 3" descr="Membru al echipei 3"/>
          <p:cNvPicPr>
            <a:picLocks noChangeAspect="1"/>
          </p:cNvPicPr>
          <p:nvPr/>
        </p:nvPicPr>
        <p:blipFill>
          <a:blip r:embed="rId6"/>
          <a:srcRect t="36" b="36"/>
          <a:stretch/>
        </p:blipFill>
        <p:spPr>
          <a:xfrm>
            <a:off x="5143500" y="2673350"/>
            <a:ext cx="2025650" cy="1644650"/>
          </a:xfrm>
          <a:prstGeom prst="roundRect">
            <a:avLst>
              <a:gd name="adj" fmla="val 4633"/>
            </a:avLst>
          </a:prstGeom>
        </p:spPr>
      </p:pic>
      <p:pic>
        <p:nvPicPr>
          <p:cNvPr id="7" name="Image 4" descr="Membru al echipei 4"/>
          <p:cNvPicPr>
            <a:picLocks noChangeAspect="1"/>
          </p:cNvPicPr>
          <p:nvPr/>
        </p:nvPicPr>
        <p:blipFill>
          <a:blip r:embed="rId7"/>
          <a:srcRect t="36" b="36"/>
          <a:stretch/>
        </p:blipFill>
        <p:spPr>
          <a:xfrm>
            <a:off x="7340600" y="2673350"/>
            <a:ext cx="2025650" cy="1644650"/>
          </a:xfrm>
          <a:prstGeom prst="roundRect">
            <a:avLst>
              <a:gd name="adj" fmla="val 4633"/>
            </a:avLst>
          </a:prstGeom>
        </p:spPr>
      </p:pic>
      <p:pic>
        <p:nvPicPr>
          <p:cNvPr id="8" name="Image 5" descr="Membru al echipei 5"/>
          <p:cNvPicPr>
            <a:picLocks noChangeAspect="1"/>
          </p:cNvPicPr>
          <p:nvPr/>
        </p:nvPicPr>
        <p:blipFill>
          <a:blip r:embed="rId8"/>
          <a:srcRect t="36" b="36"/>
          <a:stretch/>
        </p:blipFill>
        <p:spPr>
          <a:xfrm>
            <a:off x="9582150" y="2673350"/>
            <a:ext cx="2025650" cy="1644650"/>
          </a:xfrm>
          <a:prstGeom prst="roundRect">
            <a:avLst>
              <a:gd name="adj" fmla="val 4633"/>
            </a:avLst>
          </a:prstGeom>
        </p:spPr>
      </p:pic>
      <p:sp>
        <p:nvSpPr>
          <p:cNvPr id="9" name="Text 1"/>
          <p:cNvSpPr/>
          <p:nvPr/>
        </p:nvSpPr>
        <p:spPr>
          <a:xfrm>
            <a:off x="368300" y="203200"/>
            <a:ext cx="457835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2A2D3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xclsv.ideas</a:t>
            </a:r>
            <a:endParaRPr lang="en-US" sz="1200" dirty="0"/>
          </a:p>
        </p:txBody>
      </p:sp>
      <p:sp>
        <p:nvSpPr>
          <p:cNvPr id="10" name="Text 2"/>
          <p:cNvSpPr/>
          <p:nvPr/>
        </p:nvSpPr>
        <p:spPr>
          <a:xfrm>
            <a:off x="9207500" y="203200"/>
            <a:ext cx="26162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A2D3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SIGNals</a:t>
            </a:r>
            <a:endParaRPr lang="en-US" sz="1200" dirty="0"/>
          </a:p>
        </p:txBody>
      </p:sp>
      <p:sp>
        <p:nvSpPr>
          <p:cNvPr id="12" name="Text 4"/>
          <p:cNvSpPr/>
          <p:nvPr/>
        </p:nvSpPr>
        <p:spPr>
          <a:xfrm>
            <a:off x="609600" y="1574800"/>
            <a:ext cx="11301984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75"/>
              </a:lnSpc>
              <a:buNone/>
            </a:pPr>
            <a:r>
              <a:rPr lang="en-US" sz="15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Cinci oameni, un singur obiectiv: </a:t>
            </a:r>
            <a:r>
              <a:rPr lang="en-US" sz="1500" b="1" dirty="0" err="1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nici</a:t>
            </a:r>
            <a:r>
              <a:rPr lang="ro-RO" sz="15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</a:t>
            </a:r>
            <a:r>
              <a:rPr lang="en-US" sz="15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 </a:t>
            </a:r>
            <a:r>
              <a:rPr lang="ro-RO" sz="15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informație</a:t>
            </a:r>
            <a:r>
              <a:rPr lang="en-US" sz="15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pierdută</a:t>
            </a:r>
            <a:r>
              <a:rPr lang="en-US" sz="15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. Am construit SIGNals cap-</a:t>
            </a:r>
            <a:r>
              <a:rPr lang="en-US" sz="1500" dirty="0" err="1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coadă</a:t>
            </a:r>
            <a:r>
              <a:rPr lang="en-US" sz="15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</a:t>
            </a:r>
            <a:r>
              <a:rPr lang="ro-RO" sz="15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pe parcursul</a:t>
            </a:r>
            <a:r>
              <a:rPr lang="en-US" sz="15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hackathon</a:t>
            </a:r>
            <a:r>
              <a:rPr lang="ro-RO" sz="15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ului</a:t>
            </a:r>
            <a:r>
              <a:rPr lang="en-US" sz="15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, de la cod</a:t>
            </a:r>
            <a:r>
              <a:rPr lang="ro-RO" sz="15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</a:t>
            </a:r>
            <a:r>
              <a:rPr lang="en-US" sz="1500" dirty="0" err="1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până</a:t>
            </a:r>
            <a:r>
              <a:rPr lang="en-US" sz="15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la design și pitch.</a:t>
            </a:r>
            <a:endParaRPr lang="en-US" sz="1500" dirty="0"/>
          </a:p>
        </p:txBody>
      </p:sp>
      <p:sp>
        <p:nvSpPr>
          <p:cNvPr id="13" name="Shape 5"/>
          <p:cNvSpPr/>
          <p:nvPr/>
        </p:nvSpPr>
        <p:spPr>
          <a:xfrm>
            <a:off x="488950" y="4457700"/>
            <a:ext cx="2025650" cy="584200"/>
          </a:xfrm>
          <a:prstGeom prst="roundRect">
            <a:avLst>
              <a:gd name="adj" fmla="val 8696"/>
            </a:avLst>
          </a:prstGeom>
          <a:solidFill>
            <a:srgbClr val="1C2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6"/>
          <p:cNvSpPr/>
          <p:nvPr/>
        </p:nvSpPr>
        <p:spPr>
          <a:xfrm>
            <a:off x="590550" y="4521200"/>
            <a:ext cx="1877124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ro-RO" sz="1300" b="1" dirty="0">
                <a:solidFill>
                  <a:srgbClr val="F26A65"/>
                </a:solidFill>
                <a:latin typeface="Nunito Sans" pitchFamily="34" charset="0"/>
              </a:rPr>
              <a:t>Boleac Tudor</a:t>
            </a:r>
            <a:endParaRPr lang="en-US" sz="1300" dirty="0"/>
          </a:p>
        </p:txBody>
      </p:sp>
      <p:sp>
        <p:nvSpPr>
          <p:cNvPr id="15" name="Text 7"/>
          <p:cNvSpPr/>
          <p:nvPr/>
        </p:nvSpPr>
        <p:spPr>
          <a:xfrm>
            <a:off x="590550" y="4765040"/>
            <a:ext cx="1877124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Software </a:t>
            </a:r>
            <a:endParaRPr lang="en-US" sz="1200" dirty="0"/>
          </a:p>
        </p:txBody>
      </p:sp>
      <p:sp>
        <p:nvSpPr>
          <p:cNvPr id="16" name="Shape 8"/>
          <p:cNvSpPr/>
          <p:nvPr/>
        </p:nvSpPr>
        <p:spPr>
          <a:xfrm>
            <a:off x="2825750" y="4457700"/>
            <a:ext cx="2025650" cy="584200"/>
          </a:xfrm>
          <a:prstGeom prst="roundRect">
            <a:avLst>
              <a:gd name="adj" fmla="val 8696"/>
            </a:avLst>
          </a:prstGeom>
          <a:solidFill>
            <a:srgbClr val="1C2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9"/>
          <p:cNvSpPr/>
          <p:nvPr/>
        </p:nvSpPr>
        <p:spPr>
          <a:xfrm>
            <a:off x="2927350" y="4521200"/>
            <a:ext cx="1877124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F26A6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Stancu Eduard Andrei</a:t>
            </a:r>
            <a:endParaRPr lang="en-US" sz="1300" dirty="0"/>
          </a:p>
        </p:txBody>
      </p:sp>
      <p:sp>
        <p:nvSpPr>
          <p:cNvPr id="18" name="Text 10"/>
          <p:cNvSpPr/>
          <p:nvPr/>
        </p:nvSpPr>
        <p:spPr>
          <a:xfrm>
            <a:off x="2927350" y="4765040"/>
            <a:ext cx="1877124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Software</a:t>
            </a:r>
            <a:endParaRPr lang="en-US" sz="1200" dirty="0"/>
          </a:p>
        </p:txBody>
      </p:sp>
      <p:sp>
        <p:nvSpPr>
          <p:cNvPr id="19" name="Shape 11"/>
          <p:cNvSpPr/>
          <p:nvPr/>
        </p:nvSpPr>
        <p:spPr>
          <a:xfrm>
            <a:off x="5143500" y="4457700"/>
            <a:ext cx="2025650" cy="584200"/>
          </a:xfrm>
          <a:prstGeom prst="roundRect">
            <a:avLst>
              <a:gd name="adj" fmla="val 8696"/>
            </a:avLst>
          </a:prstGeom>
          <a:solidFill>
            <a:srgbClr val="1C2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2"/>
          <p:cNvSpPr/>
          <p:nvPr/>
        </p:nvSpPr>
        <p:spPr>
          <a:xfrm>
            <a:off x="5245100" y="4521200"/>
            <a:ext cx="1877124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 err="1">
                <a:solidFill>
                  <a:srgbClr val="F26A6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Ghi</a:t>
            </a:r>
            <a:r>
              <a:rPr lang="ro-RO" sz="1300" b="1" dirty="0">
                <a:solidFill>
                  <a:srgbClr val="F26A6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ță</a:t>
            </a:r>
            <a:r>
              <a:rPr lang="en-US" sz="1300" b="1" dirty="0">
                <a:solidFill>
                  <a:srgbClr val="F26A6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Costa Cristian</a:t>
            </a:r>
            <a:endParaRPr lang="en-US" sz="1300" dirty="0"/>
          </a:p>
        </p:txBody>
      </p:sp>
      <p:sp>
        <p:nvSpPr>
          <p:cNvPr id="21" name="Text 13"/>
          <p:cNvSpPr/>
          <p:nvPr/>
        </p:nvSpPr>
        <p:spPr>
          <a:xfrm>
            <a:off x="5245100" y="4765040"/>
            <a:ext cx="1877124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ro-RO" sz="1200" dirty="0">
                <a:solidFill>
                  <a:srgbClr val="F7F5F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Coordonator</a:t>
            </a:r>
            <a:r>
              <a:rPr lang="en-US" sz="1200" dirty="0">
                <a:solidFill>
                  <a:srgbClr val="F7F5F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&amp; Marketing</a:t>
            </a:r>
            <a:endParaRPr lang="en-US" sz="1200" dirty="0"/>
          </a:p>
        </p:txBody>
      </p:sp>
      <p:sp>
        <p:nvSpPr>
          <p:cNvPr id="22" name="Shape 14"/>
          <p:cNvSpPr/>
          <p:nvPr/>
        </p:nvSpPr>
        <p:spPr>
          <a:xfrm>
            <a:off x="7340600" y="4457700"/>
            <a:ext cx="2025650" cy="584200"/>
          </a:xfrm>
          <a:prstGeom prst="roundRect">
            <a:avLst>
              <a:gd name="adj" fmla="val 8696"/>
            </a:avLst>
          </a:prstGeom>
          <a:solidFill>
            <a:srgbClr val="1C2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15"/>
          <p:cNvSpPr/>
          <p:nvPr/>
        </p:nvSpPr>
        <p:spPr>
          <a:xfrm>
            <a:off x="7442200" y="4521200"/>
            <a:ext cx="1877124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ro-RO" sz="1300" b="1" dirty="0">
                <a:solidFill>
                  <a:srgbClr val="F26A6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Pârvulescu Ștefan</a:t>
            </a:r>
            <a:endParaRPr lang="en-US" sz="1300" dirty="0"/>
          </a:p>
        </p:txBody>
      </p:sp>
      <p:sp>
        <p:nvSpPr>
          <p:cNvPr id="24" name="Text 16"/>
          <p:cNvSpPr/>
          <p:nvPr/>
        </p:nvSpPr>
        <p:spPr>
          <a:xfrm>
            <a:off x="7442200" y="4765040"/>
            <a:ext cx="1877124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Design</a:t>
            </a:r>
            <a:r>
              <a:rPr lang="ro-RO" sz="1200" dirty="0">
                <a:solidFill>
                  <a:srgbClr val="F7F5F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&amp; Interfață</a:t>
            </a:r>
            <a:endParaRPr lang="en-US" sz="1200" dirty="0"/>
          </a:p>
        </p:txBody>
      </p:sp>
      <p:sp>
        <p:nvSpPr>
          <p:cNvPr id="25" name="Shape 17"/>
          <p:cNvSpPr/>
          <p:nvPr/>
        </p:nvSpPr>
        <p:spPr>
          <a:xfrm>
            <a:off x="9582150" y="4457700"/>
            <a:ext cx="2025650" cy="584200"/>
          </a:xfrm>
          <a:prstGeom prst="roundRect">
            <a:avLst>
              <a:gd name="adj" fmla="val 8696"/>
            </a:avLst>
          </a:prstGeom>
          <a:solidFill>
            <a:srgbClr val="1C2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18"/>
          <p:cNvSpPr/>
          <p:nvPr/>
        </p:nvSpPr>
        <p:spPr>
          <a:xfrm>
            <a:off x="9683750" y="4521200"/>
            <a:ext cx="1877124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F26A6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Florea Ștefan Peter</a:t>
            </a:r>
            <a:endParaRPr lang="en-US" sz="1300" dirty="0"/>
          </a:p>
        </p:txBody>
      </p:sp>
      <p:sp>
        <p:nvSpPr>
          <p:cNvPr id="27" name="Text 19"/>
          <p:cNvSpPr/>
          <p:nvPr/>
        </p:nvSpPr>
        <p:spPr>
          <a:xfrm>
            <a:off x="9683750" y="4765040"/>
            <a:ext cx="1877124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ro-RO" sz="1200" dirty="0">
                <a:solidFill>
                  <a:srgbClr val="F7F5F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Legal &amp; Marketing</a:t>
            </a:r>
            <a:endParaRPr lang="en-US" sz="1200" dirty="0"/>
          </a:p>
        </p:txBody>
      </p:sp>
      <p:sp>
        <p:nvSpPr>
          <p:cNvPr id="28" name="Text 20"/>
          <p:cNvSpPr/>
          <p:nvPr/>
        </p:nvSpPr>
        <p:spPr>
          <a:xfrm>
            <a:off x="488950" y="5130800"/>
            <a:ext cx="2086419" cy="1259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ro-RO" sz="1200" dirty="0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Elev în cadrul CNITV, o</a:t>
            </a:r>
            <a:r>
              <a:rPr lang="en-US" sz="1200" dirty="0" err="1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limpic</a:t>
            </a:r>
            <a:r>
              <a:rPr lang="en-US" sz="1200" dirty="0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</a:t>
            </a:r>
            <a:r>
              <a:rPr lang="en-US" sz="1200" dirty="0" err="1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na</a:t>
            </a:r>
            <a:r>
              <a:rPr lang="ro-RO" sz="1200" dirty="0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ț</a:t>
            </a:r>
            <a:r>
              <a:rPr lang="en-US" sz="1200" dirty="0" err="1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ional</a:t>
            </a:r>
            <a:r>
              <a:rPr lang="en-US" sz="1200" dirty="0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la informatic</a:t>
            </a:r>
            <a:r>
              <a:rPr lang="ro-RO" sz="1200" dirty="0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ă,</a:t>
            </a:r>
            <a:r>
              <a:rPr lang="en-US" sz="1200" dirty="0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a </a:t>
            </a:r>
            <a:r>
              <a:rPr lang="en-US" sz="1200" dirty="0" err="1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reu</a:t>
            </a:r>
            <a:r>
              <a:rPr lang="ro-RO" sz="1200" dirty="0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ș</a:t>
            </a:r>
            <a:r>
              <a:rPr lang="en-US" sz="1200" dirty="0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it s</a:t>
            </a:r>
            <a:r>
              <a:rPr lang="ro-RO" sz="1200" dirty="0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ă-și</a:t>
            </a:r>
            <a:r>
              <a:rPr lang="en-US" sz="1200" dirty="0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</a:t>
            </a:r>
            <a:r>
              <a:rPr lang="en-US" sz="1200" dirty="0" err="1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dezvolte</a:t>
            </a:r>
            <a:r>
              <a:rPr lang="ro-RO" sz="1200" dirty="0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o</a:t>
            </a:r>
            <a:r>
              <a:rPr lang="en-US" sz="1200" dirty="0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</a:t>
            </a:r>
            <a:r>
              <a:rPr lang="en-US" sz="1200" dirty="0" err="1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pasiune</a:t>
            </a:r>
            <a:r>
              <a:rPr lang="en-US" sz="1200" dirty="0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pentru </a:t>
            </a:r>
            <a:r>
              <a:rPr lang="en-US" sz="1200" dirty="0" err="1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tehnologie</a:t>
            </a:r>
            <a:r>
              <a:rPr lang="en-US" sz="1200" dirty="0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</a:t>
            </a:r>
            <a:r>
              <a:rPr lang="ro-RO" sz="1200" dirty="0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ș</a:t>
            </a:r>
            <a:r>
              <a:rPr lang="en-US" sz="1200" dirty="0" err="1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</a:t>
            </a:r>
            <a:r>
              <a:rPr lang="en-US" sz="1200" dirty="0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s</a:t>
            </a:r>
            <a:r>
              <a:rPr lang="ro-RO" sz="1200" dirty="0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ă</a:t>
            </a:r>
            <a:r>
              <a:rPr lang="en-US" sz="1200" dirty="0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integreze diversi </a:t>
            </a:r>
            <a:r>
              <a:rPr lang="en-US" sz="1200" dirty="0" err="1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algoritmi</a:t>
            </a:r>
            <a:r>
              <a:rPr lang="en-US" sz="1200" dirty="0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</a:t>
            </a:r>
            <a:r>
              <a:rPr lang="ro-RO" sz="1200" dirty="0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î</a:t>
            </a:r>
            <a:r>
              <a:rPr lang="en-US" sz="1200" dirty="0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 </a:t>
            </a:r>
            <a:r>
              <a:rPr lang="en-US" sz="1200" dirty="0" err="1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folosul</a:t>
            </a:r>
            <a:r>
              <a:rPr lang="en-US" sz="1200" dirty="0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</a:t>
            </a:r>
            <a:r>
              <a:rPr lang="en-US" sz="1200" dirty="0" err="1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comunit</a:t>
            </a:r>
            <a:r>
              <a:rPr lang="ro-RO" sz="1200" dirty="0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ăț</a:t>
            </a:r>
            <a:r>
              <a:rPr lang="en-US" sz="1200" dirty="0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ii</a:t>
            </a:r>
            <a:endParaRPr lang="en-US" sz="1200" dirty="0"/>
          </a:p>
        </p:txBody>
      </p:sp>
      <p:sp>
        <p:nvSpPr>
          <p:cNvPr id="29" name="Text 21"/>
          <p:cNvSpPr/>
          <p:nvPr/>
        </p:nvSpPr>
        <p:spPr>
          <a:xfrm>
            <a:off x="2825750" y="5130800"/>
            <a:ext cx="2086419" cy="14655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Elev în cadrul CNCB, membru fondator al Clubului de Robotică din Colegiul Național „Constantin Brâncoveanu", a obținut locul 2 la concursul „Vianu SciTech".</a:t>
            </a:r>
            <a:endParaRPr lang="en-US" sz="1200" dirty="0"/>
          </a:p>
        </p:txBody>
      </p:sp>
      <p:sp>
        <p:nvSpPr>
          <p:cNvPr id="30" name="Text 22"/>
          <p:cNvSpPr/>
          <p:nvPr/>
        </p:nvSpPr>
        <p:spPr>
          <a:xfrm>
            <a:off x="5143500" y="5130800"/>
            <a:ext cx="2086419" cy="14655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ro-RO" sz="1200" dirty="0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Elev în cadrul CNITV, c</a:t>
            </a:r>
            <a:r>
              <a:rPr lang="en-US" sz="1200" dirty="0" err="1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ampion</a:t>
            </a:r>
            <a:r>
              <a:rPr lang="en-US" sz="1200" dirty="0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la </a:t>
            </a:r>
            <a:r>
              <a:rPr lang="ro-RO" sz="1200" dirty="0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ș</a:t>
            </a:r>
            <a:r>
              <a:rPr lang="en-US" sz="1200" dirty="0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ah, olimpic la </a:t>
            </a:r>
            <a:r>
              <a:rPr lang="en-US" sz="1200" dirty="0" err="1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matematic</a:t>
            </a:r>
            <a:r>
              <a:rPr lang="ro-RO" sz="1200" dirty="0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ă, </a:t>
            </a:r>
            <a:r>
              <a:rPr lang="en-US" sz="1200" dirty="0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participant la diverse </a:t>
            </a:r>
            <a:r>
              <a:rPr lang="en-US" sz="1200" dirty="0" err="1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concursuri</a:t>
            </a:r>
            <a:r>
              <a:rPr lang="en-US" sz="1200" dirty="0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</a:t>
            </a:r>
            <a:r>
              <a:rPr lang="ro-RO" sz="1200" dirty="0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de</a:t>
            </a:r>
            <a:r>
              <a:rPr lang="en-US" sz="1200" dirty="0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</a:t>
            </a:r>
            <a:r>
              <a:rPr lang="en-US" sz="1200" dirty="0" err="1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antreprenoriat</a:t>
            </a:r>
            <a:r>
              <a:rPr lang="ro-RO" sz="1200" dirty="0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,</a:t>
            </a:r>
            <a:r>
              <a:rPr lang="en-US" sz="1200" dirty="0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a </a:t>
            </a:r>
            <a:r>
              <a:rPr lang="en-US" sz="1200" dirty="0" err="1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dezvoltat</a:t>
            </a:r>
            <a:r>
              <a:rPr lang="en-US" sz="1200" dirty="0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</a:t>
            </a:r>
            <a:r>
              <a:rPr lang="ro-RO" sz="1200" dirty="0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abilități</a:t>
            </a:r>
            <a:r>
              <a:rPr lang="en-US" sz="1200" dirty="0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de branding</a:t>
            </a:r>
            <a:r>
              <a:rPr lang="ro-RO" sz="1200" dirty="0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, </a:t>
            </a:r>
            <a:r>
              <a:rPr lang="en-US" sz="1200" dirty="0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marketing </a:t>
            </a:r>
            <a:r>
              <a:rPr lang="ro-RO" sz="1200" dirty="0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ș</a:t>
            </a:r>
            <a:r>
              <a:rPr lang="en-US" sz="1200" dirty="0" err="1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</a:t>
            </a:r>
            <a:r>
              <a:rPr lang="en-US" sz="1200" dirty="0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de leadership</a:t>
            </a:r>
            <a:endParaRPr lang="en-US" sz="1200" dirty="0"/>
          </a:p>
        </p:txBody>
      </p:sp>
      <p:sp>
        <p:nvSpPr>
          <p:cNvPr id="31" name="Text 23"/>
          <p:cNvSpPr/>
          <p:nvPr/>
        </p:nvSpPr>
        <p:spPr>
          <a:xfrm>
            <a:off x="7340600" y="5130799"/>
            <a:ext cx="2086419" cy="146557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ro-RO" sz="1200" dirty="0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Elev în cadrul CNITV, pasionat de domeniul </a:t>
            </a:r>
            <a:r>
              <a:rPr lang="ro-RO" sz="1200" dirty="0" err="1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tech</a:t>
            </a:r>
            <a:r>
              <a:rPr lang="ro-RO" sz="1200" dirty="0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, membru activ în domeniul civic, implicat cu seriozitate în proiectele la care este participant. Perseverența îl reflectă.</a:t>
            </a:r>
            <a:endParaRPr lang="en-US" sz="1200" dirty="0"/>
          </a:p>
        </p:txBody>
      </p:sp>
      <p:sp>
        <p:nvSpPr>
          <p:cNvPr id="32" name="Text 24"/>
          <p:cNvSpPr/>
          <p:nvPr/>
        </p:nvSpPr>
        <p:spPr>
          <a:xfrm>
            <a:off x="9556750" y="5130800"/>
            <a:ext cx="2086419" cy="12326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85"/>
              </a:lnSpc>
              <a:buNone/>
            </a:pPr>
            <a:r>
              <a:rPr lang="en-US" sz="1174" dirty="0">
                <a:solidFill>
                  <a:srgbClr val="3A426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Elev în cadrul CNITV, medaliat cu aur la concursul național „Be Legal! Be Cool!", membru în Consiliul Consultativ al Copiilor sub egida PMB și UNICEF România.</a:t>
            </a:r>
            <a:endParaRPr lang="en-US" sz="1174" dirty="0"/>
          </a:p>
        </p:txBody>
      </p:sp>
      <p:sp>
        <p:nvSpPr>
          <p:cNvPr id="34" name="Text 7">
            <a:extLst>
              <a:ext uri="{FF2B5EF4-FFF2-40B4-BE49-F238E27FC236}">
                <a16:creationId xmlns:a16="http://schemas.microsoft.com/office/drawing/2014/main" id="{A42036A1-CCE8-E573-F7D2-B733ABB6FB07}"/>
              </a:ext>
            </a:extLst>
          </p:cNvPr>
          <p:cNvSpPr/>
          <p:nvPr/>
        </p:nvSpPr>
        <p:spPr>
          <a:xfrm>
            <a:off x="304800" y="6416039"/>
            <a:ext cx="39243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1680"/>
              </a:lnSpc>
            </a:pPr>
            <a:r>
              <a:rPr lang="en-US" sz="1200" dirty="0">
                <a:solidFill>
                  <a:srgbClr val="2A2D3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signals.akiokun.com</a:t>
            </a:r>
            <a:endParaRPr lang="en-US" sz="1200" dirty="0"/>
          </a:p>
        </p:txBody>
      </p:sp>
      <p:sp>
        <p:nvSpPr>
          <p:cNvPr id="37" name="Text 4">
            <a:extLst>
              <a:ext uri="{FF2B5EF4-FFF2-40B4-BE49-F238E27FC236}">
                <a16:creationId xmlns:a16="http://schemas.microsoft.com/office/drawing/2014/main" id="{F9A7BD5B-12C2-1A63-59A0-765320C6099A}"/>
              </a:ext>
            </a:extLst>
          </p:cNvPr>
          <p:cNvSpPr txBox="1">
            <a:spLocks/>
          </p:cNvSpPr>
          <p:nvPr/>
        </p:nvSpPr>
        <p:spPr>
          <a:xfrm>
            <a:off x="304800" y="572770"/>
            <a:ext cx="5670551" cy="1579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>
            <a:lvl1pPr marL="0" indent="0" algn="l" defTabSz="914400" rtl="0" eaLnBrk="1" latinLnBrk="0" hangingPunct="1">
              <a:lnSpc>
                <a:spcPct val="115000"/>
              </a:lnSpc>
              <a:spcBef>
                <a:spcPct val="0"/>
              </a:spcBef>
              <a:buNone/>
              <a:defRPr lang="en-US" sz="4200" kern="1200" dirty="0">
                <a:solidFill>
                  <a:srgbClr val="E8504B"/>
                </a:solidFill>
                <a:latin typeface="Rubik" pitchFamily="34" charset="0"/>
                <a:ea typeface="Rubik" pitchFamily="34" charset="-122"/>
                <a:cs typeface="Rubik" pitchFamily="34" charset="-120"/>
              </a:defRPr>
            </a:lvl1pPr>
          </a:lstStyle>
          <a:p>
            <a:pPr>
              <a:lnSpc>
                <a:spcPts val="6120"/>
              </a:lnSpc>
            </a:pPr>
            <a:r>
              <a:rPr lang="en-US" sz="6000" b="1" kern="0" spc="-100" dirty="0"/>
              <a:t>WHO ARE WE?</a:t>
            </a:r>
            <a:endParaRPr lang="en-US" sz="6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9100" y="2882900"/>
            <a:ext cx="4876800" cy="3175000"/>
          </a:xfrm>
          <a:prstGeom prst="roundRect">
            <a:avLst>
              <a:gd name="adj" fmla="val 3200"/>
            </a:avLst>
          </a:prstGeom>
          <a:solidFill>
            <a:srgbClr val="1C255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Simbolul SIGNals: o mână albă și una roșie în jurul unei unde sonore"/>
          <p:cNvPicPr>
            <a:picLocks noChangeAspect="1"/>
          </p:cNvPicPr>
          <p:nvPr/>
        </p:nvPicPr>
        <p:blipFill>
          <a:blip r:embed="rId3"/>
          <a:srcRect l="-19" r="-19"/>
          <a:stretch/>
        </p:blipFill>
        <p:spPr>
          <a:xfrm>
            <a:off x="7429500" y="3279775"/>
            <a:ext cx="3556000" cy="23812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8300" y="203200"/>
            <a:ext cx="457835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2A2D3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xclsv.ideas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207500" y="203200"/>
            <a:ext cx="26162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A2D3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SIGNals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88950" y="3374453"/>
            <a:ext cx="614807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SIGNals = o </a:t>
            </a:r>
            <a:r>
              <a:rPr lang="en-US" sz="1500" b="1" dirty="0" err="1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platformă</a:t>
            </a:r>
            <a:r>
              <a:rPr lang="ro-RO" sz="15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menită să faciliteze comunicarea</a:t>
            </a:r>
            <a:r>
              <a:rPr lang="en-US" sz="15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.</a:t>
            </a:r>
            <a:r>
              <a:rPr lang="en-US" sz="15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Elevul surd semnează, </a:t>
            </a:r>
            <a:r>
              <a:rPr lang="en-US" sz="1500" dirty="0" err="1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iar</a:t>
            </a:r>
            <a:r>
              <a:rPr lang="en-US" sz="15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</a:t>
            </a:r>
            <a:r>
              <a:rPr lang="ro-RO" sz="15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platforma</a:t>
            </a:r>
            <a:r>
              <a:rPr lang="en-US" sz="15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traduce semnele în text, live.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88950" y="4200016"/>
            <a:ext cx="6148070" cy="854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1.</a:t>
            </a:r>
            <a:r>
              <a:rPr lang="en-US" sz="15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Elevul semnează în </a:t>
            </a:r>
            <a:r>
              <a:rPr lang="en-US" sz="1500" dirty="0" err="1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fața</a:t>
            </a:r>
            <a:r>
              <a:rPr lang="en-US" sz="15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</a:t>
            </a:r>
            <a:r>
              <a:rPr lang="en-US" sz="1500" dirty="0" err="1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dispozitivului</a:t>
            </a:r>
            <a:r>
              <a:rPr lang="ro-RO" sz="15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său</a:t>
            </a:r>
            <a:r>
              <a:rPr lang="en-US" sz="15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. </a:t>
            </a:r>
            <a:r>
              <a:rPr lang="en-US" sz="15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2.</a:t>
            </a:r>
            <a:r>
              <a:rPr lang="en-US" sz="15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</a:t>
            </a:r>
            <a:r>
              <a:rPr lang="ro-RO" sz="15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Prin intermediul camerei, AI-ul </a:t>
            </a:r>
            <a:r>
              <a:rPr lang="en-US" sz="1500" dirty="0" err="1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recuno</a:t>
            </a:r>
            <a:r>
              <a:rPr lang="ro-RO" sz="15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aște</a:t>
            </a:r>
            <a:r>
              <a:rPr lang="en-US" sz="15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semnele. </a:t>
            </a:r>
            <a:r>
              <a:rPr lang="en-US" sz="15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3.</a:t>
            </a:r>
            <a:r>
              <a:rPr lang="en-US" sz="15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Platforma trimite textul la profesor. </a:t>
            </a:r>
            <a:r>
              <a:rPr lang="en-US" sz="15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4.</a:t>
            </a:r>
            <a:r>
              <a:rPr lang="en-US" sz="15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Profesorul răspunde, iar elevul </a:t>
            </a:r>
            <a:r>
              <a:rPr lang="en-US" sz="1500" dirty="0" err="1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citește</a:t>
            </a:r>
            <a:r>
              <a:rPr lang="en-US" sz="15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</a:t>
            </a:r>
            <a:r>
              <a:rPr lang="ro-RO" sz="15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de </a:t>
            </a:r>
            <a:r>
              <a:rPr lang="en-US" sz="15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pe dispozitivul lui.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88950" y="5301551"/>
            <a:ext cx="614807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75"/>
              </a:lnSpc>
              <a:buNone/>
            </a:pPr>
            <a:r>
              <a:rPr lang="en-US" sz="15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Profesorul nu învață limbajul semnelor. Școala nu angajează pe nimeni în plus. </a:t>
            </a:r>
            <a:r>
              <a:rPr lang="en-US" sz="15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Elevul are, în sfârșit, o voce.</a:t>
            </a:r>
            <a:endParaRPr lang="en-US" sz="1500" dirty="0"/>
          </a:p>
        </p:txBody>
      </p:sp>
      <p:sp>
        <p:nvSpPr>
          <p:cNvPr id="9" name="Text 6"/>
          <p:cNvSpPr>
            <a:spLocks noGrp="1"/>
          </p:cNvSpPr>
          <p:nvPr>
            <p:ph type="title"/>
          </p:nvPr>
        </p:nvSpPr>
        <p:spPr>
          <a:xfrm>
            <a:off x="7373239" y="1098550"/>
            <a:ext cx="4329811" cy="14503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5610"/>
              </a:lnSpc>
              <a:buNone/>
            </a:pPr>
            <a:r>
              <a:rPr lang="en-US" sz="5500" b="1" i="0" kern="0" spc="-100" dirty="0">
                <a:solidFill>
                  <a:srgbClr val="E850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WHAT DO WE DO?</a:t>
            </a:r>
            <a:endParaRPr lang="en-US" sz="5500" dirty="0"/>
          </a:p>
        </p:txBody>
      </p:sp>
      <p:sp>
        <p:nvSpPr>
          <p:cNvPr id="10" name="Text 7"/>
          <p:cNvSpPr/>
          <p:nvPr/>
        </p:nvSpPr>
        <p:spPr>
          <a:xfrm>
            <a:off x="304800" y="6416039"/>
            <a:ext cx="39243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1680"/>
              </a:lnSpc>
            </a:pPr>
            <a:r>
              <a:rPr lang="en-US" sz="1200" dirty="0">
                <a:solidFill>
                  <a:srgbClr val="2A2D3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signals.akiokun.com</a:t>
            </a:r>
            <a:endParaRPr lang="en-US" sz="1200" dirty="0"/>
          </a:p>
        </p:txBody>
      </p:sp>
      <p:sp>
        <p:nvSpPr>
          <p:cNvPr id="12" name="Text 5">
            <a:extLst>
              <a:ext uri="{FF2B5EF4-FFF2-40B4-BE49-F238E27FC236}">
                <a16:creationId xmlns:a16="http://schemas.microsoft.com/office/drawing/2014/main" id="{90651885-0953-CD99-9A2E-5B32FA40B340}"/>
              </a:ext>
            </a:extLst>
          </p:cNvPr>
          <p:cNvSpPr/>
          <p:nvPr/>
        </p:nvSpPr>
        <p:spPr>
          <a:xfrm>
            <a:off x="488950" y="1447102"/>
            <a:ext cx="5526723" cy="854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75"/>
              </a:lnSpc>
              <a:buNone/>
            </a:pPr>
            <a:r>
              <a:rPr lang="en-US" sz="15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 oră de curs înseamnă 50 de minute de explicații vorbite. Pentru un elev surd, înseamnă </a:t>
            </a:r>
            <a:r>
              <a:rPr lang="en-US" sz="15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50 de minute de liniște</a:t>
            </a:r>
            <a:r>
              <a:rPr lang="en-US" sz="15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. Stă în bancă lângă colegi, dar lecția trece pe lângă el.</a:t>
            </a:r>
            <a:endParaRPr lang="en-US" sz="1500" dirty="0"/>
          </a:p>
        </p:txBody>
      </p:sp>
      <p:sp>
        <p:nvSpPr>
          <p:cNvPr id="14" name="Text 7">
            <a:extLst>
              <a:ext uri="{FF2B5EF4-FFF2-40B4-BE49-F238E27FC236}">
                <a16:creationId xmlns:a16="http://schemas.microsoft.com/office/drawing/2014/main" id="{176663CF-12A0-CD6C-88A9-765F3404A67B}"/>
              </a:ext>
            </a:extLst>
          </p:cNvPr>
          <p:cNvSpPr/>
          <p:nvPr/>
        </p:nvSpPr>
        <p:spPr>
          <a:xfrm>
            <a:off x="488949" y="2548890"/>
            <a:ext cx="5526723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Misiunea noastră:</a:t>
            </a:r>
            <a:r>
              <a:rPr lang="en-US" sz="15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fiecare elev surd să înțeleagă lecția în timp real, să pună întrebări și să participe, exact ca toți colegii lui.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0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372364"/>
            <a:ext cx="3662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kern="0" spc="200" dirty="0">
                <a:solidFill>
                  <a:srgbClr val="C93A36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PENTRU CINE</a:t>
            </a:r>
            <a:endParaRPr lang="en-US" sz="14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2773679"/>
            <a:ext cx="3662680" cy="1534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1C255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Trei oameni, aceeași oră de curs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978400" y="1628142"/>
            <a:ext cx="6400800" cy="1031240"/>
          </a:xfrm>
          <a:prstGeom prst="roundRect">
            <a:avLst>
              <a:gd name="adj" fmla="val 9852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GraduationCap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32400" y="1915164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892800" y="1856742"/>
            <a:ext cx="5389372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C255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Elevul surd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5892800" y="2181864"/>
            <a:ext cx="53893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1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Vrea să înțeleagă lecția în timp real și să participe.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978400" y="2811779"/>
            <a:ext cx="6400800" cy="1031240"/>
          </a:xfrm>
          <a:prstGeom prst="roundRect">
            <a:avLst>
              <a:gd name="adj" fmla="val 9852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Users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232400" y="3098800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892800" y="3040379"/>
            <a:ext cx="5389372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C255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Profesorul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5892800" y="3365500"/>
            <a:ext cx="53893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1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Vrea să predea normal, fără să știe limbajul semnelor.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978400" y="3995421"/>
            <a:ext cx="6400800" cy="1031240"/>
          </a:xfrm>
          <a:prstGeom prst="roundRect">
            <a:avLst>
              <a:gd name="adj" fmla="val 9852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Home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232400" y="4282442"/>
            <a:ext cx="457200" cy="457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892800" y="4224021"/>
            <a:ext cx="5389372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ro-RO" sz="1800" b="1" dirty="0">
                <a:solidFill>
                  <a:srgbClr val="1C255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Părinți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5892800" y="4549142"/>
            <a:ext cx="53893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1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Vor incluziune reală, nu doar prezență în catalog.</a:t>
            </a:r>
            <a:endParaRPr lang="en-US" sz="1400" dirty="0"/>
          </a:p>
        </p:txBody>
      </p:sp>
      <p:sp>
        <p:nvSpPr>
          <p:cNvPr id="19" name="Text 7">
            <a:extLst>
              <a:ext uri="{FF2B5EF4-FFF2-40B4-BE49-F238E27FC236}">
                <a16:creationId xmlns:a16="http://schemas.microsoft.com/office/drawing/2014/main" id="{204B8F4C-9A38-1F7B-6A6F-0778AE17E006}"/>
              </a:ext>
            </a:extLst>
          </p:cNvPr>
          <p:cNvSpPr/>
          <p:nvPr/>
        </p:nvSpPr>
        <p:spPr>
          <a:xfrm>
            <a:off x="304800" y="6416039"/>
            <a:ext cx="39243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1680"/>
              </a:lnSpc>
            </a:pPr>
            <a:r>
              <a:rPr lang="en-US" sz="1200" dirty="0">
                <a:solidFill>
                  <a:srgbClr val="2A2D3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signals.akiokun.com</a:t>
            </a:r>
            <a:endParaRPr lang="en-US" sz="1200" dirty="0"/>
          </a:p>
        </p:txBody>
      </p:sp>
      <p:sp>
        <p:nvSpPr>
          <p:cNvPr id="21" name="Text 1">
            <a:extLst>
              <a:ext uri="{FF2B5EF4-FFF2-40B4-BE49-F238E27FC236}">
                <a16:creationId xmlns:a16="http://schemas.microsoft.com/office/drawing/2014/main" id="{3CE47D0E-CED5-E59E-7B2A-E186C46C4BF5}"/>
              </a:ext>
            </a:extLst>
          </p:cNvPr>
          <p:cNvSpPr/>
          <p:nvPr/>
        </p:nvSpPr>
        <p:spPr>
          <a:xfrm>
            <a:off x="368300" y="203200"/>
            <a:ext cx="457835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2A2D3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xclsv.ideas</a:t>
            </a:r>
            <a:endParaRPr lang="en-US" sz="1200" dirty="0"/>
          </a:p>
        </p:txBody>
      </p:sp>
      <p:sp>
        <p:nvSpPr>
          <p:cNvPr id="23" name="Text 4">
            <a:extLst>
              <a:ext uri="{FF2B5EF4-FFF2-40B4-BE49-F238E27FC236}">
                <a16:creationId xmlns:a16="http://schemas.microsoft.com/office/drawing/2014/main" id="{30911E5E-6AB9-7DB6-B246-6017E1A43AEF}"/>
              </a:ext>
            </a:extLst>
          </p:cNvPr>
          <p:cNvSpPr/>
          <p:nvPr/>
        </p:nvSpPr>
        <p:spPr>
          <a:xfrm>
            <a:off x="10820400" y="203200"/>
            <a:ext cx="10033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A2D3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SIGNals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4950" y="0"/>
            <a:ext cx="4146550" cy="2228850"/>
          </a:xfrm>
          <a:prstGeom prst="rect">
            <a:avLst/>
          </a:prstGeom>
          <a:solidFill>
            <a:srgbClr val="1C255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GraduationCap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81975" y="638175"/>
            <a:ext cx="952500" cy="9525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584950" y="2260600"/>
            <a:ext cx="4146550" cy="2330450"/>
          </a:xfrm>
          <a:prstGeom prst="rect">
            <a:avLst/>
          </a:prstGeom>
          <a:solidFill>
            <a:srgbClr val="E8504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1" descr="Users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181975" y="2949575"/>
            <a:ext cx="952500" cy="9525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584950" y="4629150"/>
            <a:ext cx="4146550" cy="2228850"/>
          </a:xfrm>
          <a:prstGeom prst="rect">
            <a:avLst/>
          </a:prstGeom>
          <a:solidFill>
            <a:srgbClr val="26307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2" descr="Chat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181975" y="5267325"/>
            <a:ext cx="952500" cy="95250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368300" y="203200"/>
            <a:ext cx="457835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2A2D3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xclsv.ideas</a:t>
            </a:r>
            <a:endParaRPr lang="en-US" sz="1200" dirty="0"/>
          </a:p>
        </p:txBody>
      </p:sp>
      <p:sp>
        <p:nvSpPr>
          <p:cNvPr id="9" name="Text 4"/>
          <p:cNvSpPr/>
          <p:nvPr/>
        </p:nvSpPr>
        <p:spPr>
          <a:xfrm>
            <a:off x="10820400" y="203200"/>
            <a:ext cx="10033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A2D3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SIGNals</a:t>
            </a:r>
            <a:endParaRPr lang="en-US" sz="1200" dirty="0"/>
          </a:p>
        </p:txBody>
      </p:sp>
      <p:sp>
        <p:nvSpPr>
          <p:cNvPr id="10" name="Text 5"/>
          <p:cNvSpPr>
            <a:spLocks noGrp="1"/>
          </p:cNvSpPr>
          <p:nvPr>
            <p:ph type="title"/>
          </p:nvPr>
        </p:nvSpPr>
        <p:spPr>
          <a:xfrm>
            <a:off x="368300" y="825500"/>
            <a:ext cx="4839970" cy="14517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616"/>
              </a:lnSpc>
              <a:buNone/>
            </a:pPr>
            <a:r>
              <a:rPr lang="en-US" sz="5200" b="1" i="0" dirty="0">
                <a:solidFill>
                  <a:srgbClr val="E850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Cum este industria?</a:t>
            </a:r>
            <a:endParaRPr lang="en-US" sz="5200" dirty="0"/>
          </a:p>
        </p:txBody>
      </p:sp>
      <p:sp>
        <p:nvSpPr>
          <p:cNvPr id="11" name="Text 6"/>
          <p:cNvSpPr/>
          <p:nvPr/>
        </p:nvSpPr>
        <p:spPr>
          <a:xfrm>
            <a:off x="368300" y="3016250"/>
            <a:ext cx="5899531" cy="854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≈23.000</a:t>
            </a:r>
            <a:r>
              <a:rPr lang="en-US" sz="15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de persoane cu surditate profundă în România, dintre care </a:t>
            </a:r>
            <a:r>
              <a:rPr lang="en-US" sz="15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peste 2.000 de copii</a:t>
            </a:r>
            <a:r>
              <a:rPr lang="en-US" sz="15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. Doar </a:t>
            </a:r>
            <a:r>
              <a:rPr lang="en-US" sz="15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~100 de interpreți autorizați</a:t>
            </a:r>
            <a:r>
              <a:rPr lang="en-US" sz="15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pentru toată țara: un interpret la 230 de </a:t>
            </a:r>
            <a:r>
              <a:rPr lang="en-US" sz="1500" dirty="0" err="1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oameni</a:t>
            </a:r>
            <a:r>
              <a:rPr lang="en-US" sz="15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(</a:t>
            </a:r>
            <a:r>
              <a:rPr lang="ro-RO" sz="15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conf. </a:t>
            </a:r>
            <a:r>
              <a:rPr lang="en-US" sz="15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Europa Liberă, 2022).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368300" y="4800600"/>
            <a:ext cx="5899531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Problema e reală, iar locul e liber:</a:t>
            </a:r>
            <a:r>
              <a:rPr lang="en-US" sz="15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nu am găsit </a:t>
            </a:r>
            <a:r>
              <a:rPr lang="en-US" sz="1500" dirty="0" err="1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nicio</a:t>
            </a:r>
            <a:r>
              <a:rPr lang="en-US" sz="15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</a:t>
            </a:r>
            <a:r>
              <a:rPr lang="en-US" sz="1500" dirty="0" err="1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soluție</a:t>
            </a:r>
            <a:r>
              <a:rPr lang="ro-RO" sz="15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concretă, </a:t>
            </a:r>
            <a:r>
              <a:rPr lang="en-US" sz="1500" dirty="0" err="1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accesibil</a:t>
            </a:r>
            <a:r>
              <a:rPr lang="ro-RO" sz="15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ă,</a:t>
            </a:r>
            <a:r>
              <a:rPr lang="en-US" sz="15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construită special </a:t>
            </a:r>
            <a:r>
              <a:rPr lang="en-US" sz="1500" dirty="0" err="1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pentru</a:t>
            </a:r>
            <a:r>
              <a:rPr lang="en-US" sz="15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</a:t>
            </a:r>
            <a:r>
              <a:rPr lang="ro-RO" sz="15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mediul educațional</a:t>
            </a:r>
            <a:r>
              <a:rPr lang="en-US" sz="15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.</a:t>
            </a:r>
            <a:endParaRPr lang="en-US" sz="1500" dirty="0"/>
          </a:p>
        </p:txBody>
      </p:sp>
      <p:sp>
        <p:nvSpPr>
          <p:cNvPr id="13" name="Text 8"/>
          <p:cNvSpPr/>
          <p:nvPr/>
        </p:nvSpPr>
        <p:spPr>
          <a:xfrm>
            <a:off x="304800" y="6416039"/>
            <a:ext cx="39243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1680"/>
              </a:lnSpc>
            </a:pPr>
            <a:r>
              <a:rPr lang="en-US" sz="1200" dirty="0">
                <a:solidFill>
                  <a:srgbClr val="2A2D3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signals.akiokun.com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8300" y="203200"/>
            <a:ext cx="457835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2A2D3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xclsv.ideas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207500" y="203200"/>
            <a:ext cx="26162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A2D3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SIGNals</a:t>
            </a:r>
            <a:endParaRPr lang="en-US" sz="1200" dirty="0"/>
          </a:p>
        </p:txBody>
      </p:sp>
      <p:sp>
        <p:nvSpPr>
          <p:cNvPr id="4" name="Text 2"/>
          <p:cNvSpPr>
            <a:spLocks noGrp="1"/>
          </p:cNvSpPr>
          <p:nvPr>
            <p:ph type="title"/>
          </p:nvPr>
        </p:nvSpPr>
        <p:spPr>
          <a:xfrm>
            <a:off x="3080830" y="1587500"/>
            <a:ext cx="6030341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6600"/>
              </a:lnSpc>
              <a:buNone/>
            </a:pPr>
            <a:r>
              <a:rPr lang="en-US" sz="6000" b="1" i="0" dirty="0">
                <a:solidFill>
                  <a:srgbClr val="E850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Competiția?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758952" y="3568700"/>
            <a:ext cx="10674096" cy="124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6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Pe piață există patru tipuri de soluții: </a:t>
            </a:r>
            <a:r>
              <a:rPr lang="en-US" sz="16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interpreții umani</a:t>
            </a:r>
            <a:r>
              <a:rPr lang="en-US" sz="16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, greu de găsit la fiecare oră; </a:t>
            </a:r>
            <a:r>
              <a:rPr lang="en-US" sz="16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aplicațiile de transcriere</a:t>
            </a:r>
            <a:r>
              <a:rPr lang="en-US" sz="16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, care oferă doar text; </a:t>
            </a:r>
            <a:r>
              <a:rPr lang="en-US" sz="16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aplicațiile pentru învățarea limbajului semnelor</a:t>
            </a:r>
            <a:r>
              <a:rPr lang="en-US" sz="16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, care nu ajută în timpul lecției; și </a:t>
            </a:r>
            <a:r>
              <a:rPr lang="en-US" sz="16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platformele educaționale</a:t>
            </a:r>
            <a:r>
              <a:rPr lang="en-US" sz="16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, care nu sunt gândite pentru elevii surzi. </a:t>
            </a:r>
            <a:r>
              <a:rPr lang="en-US" sz="16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SIGNals le pune pe toate într-un singur produs:</a:t>
            </a:r>
            <a:r>
              <a:rPr lang="en-US" sz="16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un dispozitiv pe fiecare bancă, care traduce semnele în text, live, în clasă.</a:t>
            </a:r>
            <a:endParaRPr lang="en-US" sz="160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A77A5EE4-F874-3E4C-53DD-B7C9155AE473}"/>
              </a:ext>
            </a:extLst>
          </p:cNvPr>
          <p:cNvSpPr/>
          <p:nvPr/>
        </p:nvSpPr>
        <p:spPr>
          <a:xfrm>
            <a:off x="304800" y="6416039"/>
            <a:ext cx="39243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1680"/>
              </a:lnSpc>
            </a:pPr>
            <a:r>
              <a:rPr lang="en-US" sz="1200" dirty="0">
                <a:solidFill>
                  <a:srgbClr val="2A2D3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signals.akiokun.com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27250"/>
            <a:ext cx="3048000" cy="3873500"/>
          </a:xfrm>
          <a:prstGeom prst="rect">
            <a:avLst/>
          </a:prstGeom>
          <a:solidFill>
            <a:srgbClr val="1C255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7" b="-7"/>
          <a:stretch/>
        </p:blipFill>
        <p:spPr>
          <a:xfrm>
            <a:off x="254000" y="3213100"/>
            <a:ext cx="2540000" cy="1701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8300" y="203200"/>
            <a:ext cx="457835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2A2D3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xclsv.ideas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207500" y="203200"/>
            <a:ext cx="26162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A2D3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SIGNals</a:t>
            </a:r>
            <a:endParaRPr lang="en-US" sz="1200" dirty="0"/>
          </a:p>
        </p:txBody>
      </p:sp>
      <p:sp>
        <p:nvSpPr>
          <p:cNvPr id="6" name="Text 3"/>
          <p:cNvSpPr>
            <a:spLocks noGrp="1"/>
          </p:cNvSpPr>
          <p:nvPr>
            <p:ph type="title"/>
          </p:nvPr>
        </p:nvSpPr>
        <p:spPr>
          <a:xfrm>
            <a:off x="609600" y="685800"/>
            <a:ext cx="4709160" cy="1087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80"/>
              </a:lnSpc>
              <a:buNone/>
            </a:pPr>
            <a:r>
              <a:rPr lang="en-US" sz="3800" b="1" i="0" dirty="0">
                <a:solidFill>
                  <a:srgbClr val="E850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Business Model &amp; Costs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3295587" y="1650835"/>
            <a:ext cx="8286813" cy="124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2400"/>
              </a:lnSpc>
            </a:pPr>
            <a:r>
              <a:rPr lang="en-US" sz="16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Vindem școlilor, nu elevilor.</a:t>
            </a:r>
            <a:r>
              <a:rPr lang="en-US" sz="16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</a:t>
            </a:r>
            <a:r>
              <a:rPr lang="ro-RO" sz="16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Veniturile vin dintr-o unică sursă: </a:t>
            </a:r>
            <a:r>
              <a:rPr lang="ro-RO" sz="16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</a:t>
            </a:r>
            <a:r>
              <a:rPr lang="en-US" sz="1600" b="1" dirty="0" err="1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ontracte</a:t>
            </a:r>
            <a:r>
              <a:rPr lang="en-US" sz="16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</a:t>
            </a:r>
            <a:r>
              <a:rPr lang="ro-RO" sz="16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cu instituții de învățământ</a:t>
            </a:r>
            <a:r>
              <a:rPr lang="ro-RO" sz="16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. </a:t>
            </a:r>
            <a:r>
              <a:rPr lang="ro-RO" sz="16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SIGNals</a:t>
            </a:r>
            <a:r>
              <a:rPr lang="ro-RO" sz="16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este gândit p</a:t>
            </a:r>
            <a:r>
              <a:rPr lang="en-US" sz="1600" dirty="0" err="1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entru</a:t>
            </a:r>
            <a:r>
              <a:rPr lang="en-US" sz="16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</a:t>
            </a:r>
            <a:r>
              <a:rPr lang="en-US" sz="1600" dirty="0" err="1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familii</a:t>
            </a:r>
            <a:r>
              <a:rPr lang="en-US" sz="16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, </a:t>
            </a:r>
            <a:r>
              <a:rPr lang="ro-RO" sz="16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astfel încât </a:t>
            </a:r>
            <a:r>
              <a:rPr lang="en-US" sz="1600" dirty="0" err="1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contul</a:t>
            </a:r>
            <a:r>
              <a:rPr lang="en-US" sz="16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</a:t>
            </a:r>
            <a:r>
              <a:rPr lang="en-US" sz="1600" dirty="0" err="1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elevului</a:t>
            </a:r>
            <a:r>
              <a:rPr lang="en-US" sz="16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e </a:t>
            </a:r>
            <a:r>
              <a:rPr lang="en-US" sz="1600" dirty="0" err="1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gratuit</a:t>
            </a:r>
            <a:r>
              <a:rPr lang="en-US" sz="16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. </a:t>
            </a:r>
            <a:r>
              <a:rPr lang="en-US" sz="1600" b="1" dirty="0" err="1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Plătește</a:t>
            </a:r>
            <a:r>
              <a:rPr lang="en-US" sz="16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</a:t>
            </a:r>
            <a:r>
              <a:rPr lang="en-US" sz="1600" b="1" dirty="0" err="1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instituția</a:t>
            </a:r>
            <a:r>
              <a:rPr lang="en-US" sz="16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, </a:t>
            </a:r>
            <a:r>
              <a:rPr lang="en-US" sz="1600" b="1" dirty="0" err="1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câștigă</a:t>
            </a:r>
            <a:r>
              <a:rPr lang="en-US" sz="16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</a:t>
            </a:r>
            <a:r>
              <a:rPr lang="en-US" sz="1600" b="1" dirty="0" err="1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elevul</a:t>
            </a:r>
            <a:r>
              <a:rPr lang="en-US" sz="16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.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3352799" y="3735260"/>
            <a:ext cx="8286813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endParaRPr lang="en-US" sz="1600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DEFD21E7-493A-EBF3-C608-7DEF87F07074}"/>
              </a:ext>
            </a:extLst>
          </p:cNvPr>
          <p:cNvSpPr/>
          <p:nvPr/>
        </p:nvSpPr>
        <p:spPr>
          <a:xfrm>
            <a:off x="304800" y="6416039"/>
            <a:ext cx="39243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1680"/>
              </a:lnSpc>
            </a:pPr>
            <a:r>
              <a:rPr lang="en-US" sz="1200" dirty="0">
                <a:solidFill>
                  <a:srgbClr val="2A2D3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signals.akiokun.com</a:t>
            </a:r>
            <a:endParaRPr lang="en-US" sz="1200" dirty="0"/>
          </a:p>
        </p:txBody>
      </p:sp>
      <p:sp>
        <p:nvSpPr>
          <p:cNvPr id="13" name="Text 4">
            <a:extLst>
              <a:ext uri="{FF2B5EF4-FFF2-40B4-BE49-F238E27FC236}">
                <a16:creationId xmlns:a16="http://schemas.microsoft.com/office/drawing/2014/main" id="{E48DAEE5-9E7C-136C-1ED3-2F84C6376D88}"/>
              </a:ext>
            </a:extLst>
          </p:cNvPr>
          <p:cNvSpPr/>
          <p:nvPr/>
        </p:nvSpPr>
        <p:spPr>
          <a:xfrm>
            <a:off x="3339261" y="3281508"/>
            <a:ext cx="4871466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62306" indent="-162306" algn="l">
              <a:lnSpc>
                <a:spcPts val="1950"/>
              </a:lnSpc>
              <a:buSzPct val="100000"/>
              <a:buChar char="•"/>
            </a:pPr>
            <a:r>
              <a:rPr lang="en-US" sz="13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Elev</a:t>
            </a:r>
            <a:r>
              <a:rPr lang="en-US" sz="13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– €</a:t>
            </a:r>
            <a:r>
              <a:rPr lang="ro-RO" sz="13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0/an</a:t>
            </a:r>
            <a:endParaRPr lang="en-US" sz="1300" dirty="0"/>
          </a:p>
          <a:p>
            <a:pPr marL="162306" indent="-162306" algn="l">
              <a:lnSpc>
                <a:spcPts val="1950"/>
              </a:lnSpc>
              <a:buSzPct val="100000"/>
              <a:buChar char="•"/>
            </a:pPr>
            <a:r>
              <a:rPr lang="en-US" sz="1300" b="1" dirty="0" err="1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Clasă</a:t>
            </a:r>
            <a:r>
              <a:rPr lang="en-US" sz="13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– €399/an: până la 5 elevi</a:t>
            </a:r>
            <a:endParaRPr lang="en-US" sz="1300" dirty="0"/>
          </a:p>
          <a:p>
            <a:pPr marL="162306" indent="-162306" algn="l">
              <a:lnSpc>
                <a:spcPts val="1950"/>
              </a:lnSpc>
              <a:buSzPct val="100000"/>
              <a:buChar char="•"/>
            </a:pPr>
            <a:r>
              <a:rPr lang="en-US" sz="13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Școală</a:t>
            </a:r>
            <a:r>
              <a:rPr lang="en-US" sz="13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</a:t>
            </a:r>
            <a:r>
              <a:rPr lang="en-US" sz="130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– €</a:t>
            </a:r>
            <a:r>
              <a:rPr lang="en-US" sz="13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2</a:t>
            </a:r>
            <a:r>
              <a:rPr lang="en-US" sz="130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.490</a:t>
            </a:r>
            <a:r>
              <a:rPr lang="en-US" sz="13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/an: elevi nelimitați</a:t>
            </a:r>
            <a:endParaRPr lang="en-US" sz="1300" dirty="0"/>
          </a:p>
          <a:p>
            <a:pPr marL="162306" indent="-162306" algn="l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Contracte cu inspectorate și fonduri</a:t>
            </a:r>
            <a:endParaRPr lang="en-US" sz="1300" dirty="0"/>
          </a:p>
        </p:txBody>
      </p:sp>
      <p:sp>
        <p:nvSpPr>
          <p:cNvPr id="15" name="Text 5">
            <a:extLst>
              <a:ext uri="{FF2B5EF4-FFF2-40B4-BE49-F238E27FC236}">
                <a16:creationId xmlns:a16="http://schemas.microsoft.com/office/drawing/2014/main" id="{97A64281-17EF-781D-9BC2-4C743465F168}"/>
              </a:ext>
            </a:extLst>
          </p:cNvPr>
          <p:cNvSpPr/>
          <p:nvPr/>
        </p:nvSpPr>
        <p:spPr>
          <a:xfrm>
            <a:off x="4953603" y="6134459"/>
            <a:ext cx="497078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Venit recurent</a:t>
            </a:r>
            <a:r>
              <a:rPr lang="en-US" sz="13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, previzibil pentru școală și pentru noi.</a:t>
            </a:r>
            <a:endParaRPr lang="en-US" sz="1300" dirty="0"/>
          </a:p>
        </p:txBody>
      </p:sp>
      <p:sp>
        <p:nvSpPr>
          <p:cNvPr id="17" name="Text 7">
            <a:extLst>
              <a:ext uri="{FF2B5EF4-FFF2-40B4-BE49-F238E27FC236}">
                <a16:creationId xmlns:a16="http://schemas.microsoft.com/office/drawing/2014/main" id="{A34133FF-8FA6-0FD7-0312-6565E6884C45}"/>
              </a:ext>
            </a:extLst>
          </p:cNvPr>
          <p:cNvSpPr/>
          <p:nvPr/>
        </p:nvSpPr>
        <p:spPr>
          <a:xfrm>
            <a:off x="7058914" y="3281508"/>
            <a:ext cx="5133086" cy="768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62306" indent="-162306" algn="l">
              <a:lnSpc>
                <a:spcPts val="1950"/>
              </a:lnSpc>
              <a:buSzPct val="100000"/>
              <a:buChar char="•"/>
            </a:pPr>
            <a:r>
              <a:rPr lang="en-US" sz="13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Fixe:</a:t>
            </a:r>
            <a:r>
              <a:rPr lang="en-US" sz="13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~€25.000/an (dezvoltare, servere, licențe)</a:t>
            </a:r>
            <a:endParaRPr lang="en-US" sz="1300" dirty="0"/>
          </a:p>
          <a:p>
            <a:pPr marL="162306" indent="-162306" algn="l">
              <a:lnSpc>
                <a:spcPts val="1950"/>
              </a:lnSpc>
              <a:buSzPct val="100000"/>
              <a:buChar char="•"/>
            </a:pPr>
            <a:r>
              <a:rPr lang="en-US" sz="13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Variabile:</a:t>
            </a:r>
            <a:r>
              <a:rPr lang="en-US" sz="13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~€70/dispozitiv + ~€20/elev/an</a:t>
            </a:r>
            <a:endParaRPr lang="en-US" sz="1300" dirty="0"/>
          </a:p>
          <a:p>
            <a:pPr marL="162306" indent="-162306" algn="l">
              <a:lnSpc>
                <a:spcPts val="1950"/>
              </a:lnSpc>
              <a:buSzPct val="100000"/>
              <a:buChar char="•"/>
            </a:pPr>
            <a:r>
              <a:rPr lang="en-US" sz="13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Marketing:</a:t>
            </a:r>
            <a:r>
              <a:rPr lang="en-US" sz="13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~€5.000/an (demo-uri în școli)</a:t>
            </a:r>
            <a:endParaRPr lang="en-US" sz="1300" dirty="0"/>
          </a:p>
        </p:txBody>
      </p:sp>
      <p:sp>
        <p:nvSpPr>
          <p:cNvPr id="19" name="Text 3">
            <a:extLst>
              <a:ext uri="{FF2B5EF4-FFF2-40B4-BE49-F238E27FC236}">
                <a16:creationId xmlns:a16="http://schemas.microsoft.com/office/drawing/2014/main" id="{AC5E0BC3-1CE4-A834-A660-C59BD2C8DCB8}"/>
              </a:ext>
            </a:extLst>
          </p:cNvPr>
          <p:cNvSpPr/>
          <p:nvPr/>
        </p:nvSpPr>
        <p:spPr>
          <a:xfrm>
            <a:off x="3302000" y="2951167"/>
            <a:ext cx="39243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Cum generăm venit?</a:t>
            </a:r>
            <a:endParaRPr lang="en-US" sz="1500" dirty="0"/>
          </a:p>
        </p:txBody>
      </p:sp>
      <p:sp>
        <p:nvSpPr>
          <p:cNvPr id="21" name="Text 6">
            <a:extLst>
              <a:ext uri="{FF2B5EF4-FFF2-40B4-BE49-F238E27FC236}">
                <a16:creationId xmlns:a16="http://schemas.microsoft.com/office/drawing/2014/main" id="{CC76142B-7B8B-3B47-A358-C773271B6C58}"/>
              </a:ext>
            </a:extLst>
          </p:cNvPr>
          <p:cNvSpPr/>
          <p:nvPr/>
        </p:nvSpPr>
        <p:spPr>
          <a:xfrm>
            <a:off x="7058914" y="2933676"/>
            <a:ext cx="52324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Costuri</a:t>
            </a:r>
            <a:endParaRPr lang="en-US" sz="1500" dirty="0"/>
          </a:p>
        </p:txBody>
      </p:sp>
      <p:sp>
        <p:nvSpPr>
          <p:cNvPr id="23" name="Text 9">
            <a:extLst>
              <a:ext uri="{FF2B5EF4-FFF2-40B4-BE49-F238E27FC236}">
                <a16:creationId xmlns:a16="http://schemas.microsoft.com/office/drawing/2014/main" id="{B0F0DA38-A829-2E2A-AFED-D22AEA5F03DF}"/>
              </a:ext>
            </a:extLst>
          </p:cNvPr>
          <p:cNvSpPr/>
          <p:nvPr/>
        </p:nvSpPr>
        <p:spPr>
          <a:xfrm>
            <a:off x="7226300" y="4601726"/>
            <a:ext cx="5133086" cy="768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62306" indent="-162306" algn="l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Marjă pe abonament: ~80%</a:t>
            </a:r>
            <a:endParaRPr lang="en-US" sz="1300" dirty="0"/>
          </a:p>
          <a:p>
            <a:pPr marL="162306" indent="-162306" algn="l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Cost per elev: ~€20/an (servere și AI)</a:t>
            </a:r>
            <a:endParaRPr lang="en-US" sz="1300" dirty="0"/>
          </a:p>
          <a:p>
            <a:pPr marL="162306" indent="-162306" algn="l">
              <a:lnSpc>
                <a:spcPts val="1950"/>
              </a:lnSpc>
              <a:buSzPct val="100000"/>
              <a:buChar char="•"/>
            </a:pPr>
            <a:r>
              <a:rPr lang="en-US" sz="13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Break-even: ~700 de elevi activi (anul 4)</a:t>
            </a:r>
            <a:endParaRPr lang="en-US" sz="1300" dirty="0"/>
          </a:p>
        </p:txBody>
      </p:sp>
      <p:sp>
        <p:nvSpPr>
          <p:cNvPr id="25" name="Text 8">
            <a:extLst>
              <a:ext uri="{FF2B5EF4-FFF2-40B4-BE49-F238E27FC236}">
                <a16:creationId xmlns:a16="http://schemas.microsoft.com/office/drawing/2014/main" id="{42CDD80C-521A-B8FA-6FE1-A4E929FAA6D9}"/>
              </a:ext>
            </a:extLst>
          </p:cNvPr>
          <p:cNvSpPr/>
          <p:nvPr/>
        </p:nvSpPr>
        <p:spPr>
          <a:xfrm>
            <a:off x="7009257" y="4338980"/>
            <a:ext cx="52324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Performanță financiară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lan de marketing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8300" y="203200"/>
            <a:ext cx="457835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2A2D3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xclsv.ideas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207500" y="203200"/>
            <a:ext cx="26162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A2D3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SIGNals</a:t>
            </a:r>
            <a:endParaRPr lang="en-US" sz="1200" dirty="0"/>
          </a:p>
        </p:txBody>
      </p:sp>
      <p:sp>
        <p:nvSpPr>
          <p:cNvPr id="4" name="Text 2"/>
          <p:cNvSpPr>
            <a:spLocks noGrp="1"/>
          </p:cNvSpPr>
          <p:nvPr>
            <p:ph type="title"/>
          </p:nvPr>
        </p:nvSpPr>
        <p:spPr>
          <a:xfrm>
            <a:off x="730250" y="825500"/>
            <a:ext cx="71945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40"/>
              </a:lnSpc>
              <a:buNone/>
            </a:pPr>
            <a:r>
              <a:rPr lang="en-US" sz="4400" b="1" i="0" dirty="0">
                <a:solidFill>
                  <a:srgbClr val="E850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Plan de marketing</a:t>
            </a:r>
            <a:endParaRPr lang="en-US" sz="4400" dirty="0"/>
          </a:p>
        </p:txBody>
      </p:sp>
      <p:sp>
        <p:nvSpPr>
          <p:cNvPr id="21" name="Subtitle"/>
          <p:cNvSpPr txBox="1"/>
          <p:nvPr/>
        </p:nvSpPr>
        <p:spPr>
          <a:xfrm>
            <a:off x="730239" y="1554480"/>
            <a:ext cx="1081534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2100"/>
              </a:lnSpc>
              <a:spcAft>
                <a:spcPts val="0"/>
              </a:spcAft>
              <a:buNone/>
            </a:pPr>
            <a:r>
              <a:rPr lang="ro-RO" sz="15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Vindem prin încredere: </a:t>
            </a:r>
            <a:r>
              <a:rPr lang="ro-RO" sz="15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demo în clasă → pilot gratuit → licență. Fiecare preț are publicul și canalul lui.</a:t>
            </a:r>
          </a:p>
        </p:txBody>
      </p:sp>
      <p:sp>
        <p:nvSpPr>
          <p:cNvPr id="22" name="Card 1"/>
          <p:cNvSpPr/>
          <p:nvPr/>
        </p:nvSpPr>
        <p:spPr>
          <a:xfrm>
            <a:off x="730239" y="2103120"/>
            <a:ext cx="3422233" cy="239572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o-RO"/>
          </a:p>
        </p:txBody>
      </p:sp>
      <p:sp>
        <p:nvSpPr>
          <p:cNvPr id="23" name="Card 1 text"/>
          <p:cNvSpPr txBox="1"/>
          <p:nvPr/>
        </p:nvSpPr>
        <p:spPr>
          <a:xfrm>
            <a:off x="958839" y="2304288"/>
            <a:ext cx="2965033" cy="20299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2600"/>
              </a:lnSpc>
              <a:spcAft>
                <a:spcPts val="900"/>
              </a:spcAft>
              <a:buNone/>
            </a:pPr>
            <a:r>
              <a:rPr lang="ro-RO" sz="2000" b="1" dirty="0">
                <a:solidFill>
                  <a:srgbClr val="E850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Clasă </a:t>
            </a:r>
            <a:r>
              <a:rPr lang="ro-RO" sz="2000" b="1" dirty="0">
                <a:solidFill>
                  <a:srgbClr val="1C255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€399/an</a:t>
            </a:r>
          </a:p>
          <a:p>
            <a:pPr marL="0" indent="0" algn="l">
              <a:lnSpc>
                <a:spcPts val="1800"/>
              </a:lnSpc>
              <a:spcAft>
                <a:spcPts val="600"/>
              </a:spcAft>
              <a:buNone/>
            </a:pPr>
            <a:r>
              <a:rPr lang="ro-RO" sz="13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Cui: </a:t>
            </a:r>
            <a:r>
              <a:rPr lang="ro-RO" sz="13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școlilor de masă cu 1–5 elevi surzi integrați.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ro-RO" sz="13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Cum: </a:t>
            </a:r>
            <a:r>
              <a:rPr lang="ro-RO" sz="13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profesorii de sprijin și CJRAE, demo live în clasa elevului.</a:t>
            </a:r>
          </a:p>
          <a:p>
            <a:pPr marL="0" indent="0" algn="l">
              <a:lnSpc>
                <a:spcPts val="1800"/>
              </a:lnSpc>
              <a:spcAft>
                <a:spcPts val="600"/>
              </a:spcAft>
              <a:buNone/>
            </a:pPr>
            <a:r>
              <a:rPr lang="ro-RO" sz="13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Argument: </a:t>
            </a:r>
            <a:r>
              <a:rPr lang="ro-RO" sz="13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sub €35 pe lună pentru toată clasa.</a:t>
            </a:r>
          </a:p>
        </p:txBody>
      </p:sp>
      <p:sp>
        <p:nvSpPr>
          <p:cNvPr id="24" name="Card 2"/>
          <p:cNvSpPr/>
          <p:nvPr/>
        </p:nvSpPr>
        <p:spPr>
          <a:xfrm>
            <a:off x="4426793" y="2103120"/>
            <a:ext cx="3422233" cy="239572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o-RO"/>
          </a:p>
        </p:txBody>
      </p:sp>
      <p:sp>
        <p:nvSpPr>
          <p:cNvPr id="25" name="Card 2 text"/>
          <p:cNvSpPr txBox="1"/>
          <p:nvPr/>
        </p:nvSpPr>
        <p:spPr>
          <a:xfrm>
            <a:off x="4655393" y="2304288"/>
            <a:ext cx="2965033" cy="20299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2600"/>
              </a:lnSpc>
              <a:spcAft>
                <a:spcPts val="900"/>
              </a:spcAft>
              <a:buNone/>
            </a:pPr>
            <a:r>
              <a:rPr lang="ro-RO" sz="2000" b="1" dirty="0">
                <a:solidFill>
                  <a:srgbClr val="E850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Școală </a:t>
            </a:r>
            <a:r>
              <a:rPr lang="ro-RO" sz="2000" b="1" dirty="0">
                <a:solidFill>
                  <a:srgbClr val="1C255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€1.490/an</a:t>
            </a:r>
          </a:p>
          <a:p>
            <a:pPr marL="0" indent="0" algn="l">
              <a:lnSpc>
                <a:spcPts val="1800"/>
              </a:lnSpc>
              <a:spcAft>
                <a:spcPts val="600"/>
              </a:spcAft>
              <a:buNone/>
            </a:pPr>
            <a:r>
              <a:rPr lang="ro-RO" sz="13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Cui: </a:t>
            </a:r>
            <a:r>
              <a:rPr lang="ro-RO" sz="13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școlilor speciale pentru elevi surzi și școlilor cu 4+ clase.</a:t>
            </a:r>
          </a:p>
          <a:p>
            <a:pPr marL="0" indent="0" algn="l">
              <a:lnSpc>
                <a:spcPts val="1800"/>
              </a:lnSpc>
              <a:spcAft>
                <a:spcPts val="600"/>
              </a:spcAft>
              <a:buNone/>
            </a:pPr>
            <a:r>
              <a:rPr lang="ro-RO" sz="13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Cum: </a:t>
            </a:r>
            <a:r>
              <a:rPr lang="ro-RO" sz="13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întâlniri cu directorii, rezultatele din pilot ca studiu de caz.</a:t>
            </a:r>
          </a:p>
          <a:p>
            <a:pPr marL="0" indent="0" algn="l">
              <a:lnSpc>
                <a:spcPts val="1800"/>
              </a:lnSpc>
              <a:spcAft>
                <a:spcPts val="600"/>
              </a:spcAft>
              <a:buNone/>
            </a:pPr>
            <a:r>
              <a:rPr lang="ro-RO" sz="13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Argument: </a:t>
            </a:r>
            <a:r>
              <a:rPr lang="ro-RO" sz="13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de la 4 clase, licența de școală e mai ieftină decât 4 × €399.</a:t>
            </a:r>
          </a:p>
        </p:txBody>
      </p:sp>
      <p:sp>
        <p:nvSpPr>
          <p:cNvPr id="26" name="Card 3"/>
          <p:cNvSpPr/>
          <p:nvPr/>
        </p:nvSpPr>
        <p:spPr>
          <a:xfrm>
            <a:off x="8123346" y="2103120"/>
            <a:ext cx="3422233" cy="239572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o-RO"/>
          </a:p>
        </p:txBody>
      </p:sp>
      <p:sp>
        <p:nvSpPr>
          <p:cNvPr id="27" name="Card 3 text"/>
          <p:cNvSpPr txBox="1"/>
          <p:nvPr/>
        </p:nvSpPr>
        <p:spPr>
          <a:xfrm>
            <a:off x="8351946" y="2304288"/>
            <a:ext cx="2965033" cy="20299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2600"/>
              </a:lnSpc>
              <a:spcAft>
                <a:spcPts val="900"/>
              </a:spcAft>
              <a:buNone/>
            </a:pPr>
            <a:r>
              <a:rPr lang="ro-RO" sz="2000" b="1" dirty="0">
                <a:solidFill>
                  <a:srgbClr val="E850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Inspectorate </a:t>
            </a:r>
            <a:r>
              <a:rPr lang="ro-RO" sz="2000" b="1" dirty="0">
                <a:solidFill>
                  <a:srgbClr val="1C255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&amp; fonduri</a:t>
            </a:r>
          </a:p>
          <a:p>
            <a:pPr marL="0" indent="0" algn="l">
              <a:lnSpc>
                <a:spcPts val="1800"/>
              </a:lnSpc>
              <a:spcAft>
                <a:spcPts val="600"/>
              </a:spcAft>
              <a:buNone/>
            </a:pPr>
            <a:r>
              <a:rPr lang="ro-RO" sz="13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Cui: </a:t>
            </a:r>
            <a:r>
              <a:rPr lang="ro-RO" sz="13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inspectoratelor școlare, ONG-urilor și sponsorilor (CSR).</a:t>
            </a:r>
          </a:p>
          <a:p>
            <a:pPr marL="0" indent="0" algn="l">
              <a:lnSpc>
                <a:spcPts val="1800"/>
              </a:lnSpc>
              <a:spcAft>
                <a:spcPts val="600"/>
              </a:spcAft>
              <a:buNone/>
            </a:pPr>
            <a:r>
              <a:rPr lang="ro-RO" sz="13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Cum: </a:t>
            </a:r>
            <a:r>
              <a:rPr lang="ro-RO" sz="13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asociațiile surzilor și proiecte pe fonduri europene.</a:t>
            </a:r>
          </a:p>
          <a:p>
            <a:pPr marL="0" indent="0" algn="l">
              <a:lnSpc>
                <a:spcPts val="1800"/>
              </a:lnSpc>
              <a:spcAft>
                <a:spcPts val="600"/>
              </a:spcAft>
              <a:buNone/>
            </a:pPr>
            <a:r>
              <a:rPr lang="ro-RO" sz="13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Argument: </a:t>
            </a:r>
            <a:r>
              <a:rPr lang="ro-RO" sz="13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 singură semnătură acoperă școlile din tot județul.</a:t>
            </a:r>
          </a:p>
        </p:txBody>
      </p:sp>
      <p:sp>
        <p:nvSpPr>
          <p:cNvPr id="28" name="Funnel label"/>
          <p:cNvSpPr txBox="1"/>
          <p:nvPr/>
        </p:nvSpPr>
        <p:spPr>
          <a:xfrm>
            <a:off x="730239" y="4709160"/>
            <a:ext cx="6766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1700"/>
              </a:lnSpc>
              <a:spcAft>
                <a:spcPts val="0"/>
              </a:spcAft>
              <a:buNone/>
            </a:pPr>
            <a:r>
              <a:rPr lang="ro-RO" sz="1200" b="1" spc="200" dirty="0">
                <a:solidFill>
                  <a:srgbClr val="C93A36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PÂLNIA DE VÂNZARE</a:t>
            </a:r>
          </a:p>
        </p:txBody>
      </p:sp>
      <p:sp>
        <p:nvSpPr>
          <p:cNvPr id="29" name="Step 1"/>
          <p:cNvSpPr/>
          <p:nvPr/>
        </p:nvSpPr>
        <p:spPr>
          <a:xfrm>
            <a:off x="730239" y="5093208"/>
            <a:ext cx="1024128" cy="420624"/>
          </a:xfrm>
          <a:prstGeom prst="roundRect">
            <a:avLst>
              <a:gd name="adj" fmla="val 30000"/>
            </a:avLst>
          </a:prstGeom>
          <a:solidFill>
            <a:srgbClr val="1C255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</a:pPr>
            <a:r>
              <a:rPr lang="ro-RO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Demo live</a:t>
            </a:r>
          </a:p>
        </p:txBody>
      </p:sp>
      <p:sp>
        <p:nvSpPr>
          <p:cNvPr id="30" name="Arrow 1"/>
          <p:cNvSpPr/>
          <p:nvPr/>
        </p:nvSpPr>
        <p:spPr>
          <a:xfrm>
            <a:off x="1836663" y="5221224"/>
            <a:ext cx="182880" cy="164592"/>
          </a:xfrm>
          <a:prstGeom prst="rightArrow">
            <a:avLst/>
          </a:prstGeom>
          <a:solidFill>
            <a:srgbClr val="B8BCD0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o-RO"/>
          </a:p>
        </p:txBody>
      </p:sp>
      <p:sp>
        <p:nvSpPr>
          <p:cNvPr id="31" name="Step 2"/>
          <p:cNvSpPr/>
          <p:nvPr/>
        </p:nvSpPr>
        <p:spPr>
          <a:xfrm>
            <a:off x="2101839" y="5093208"/>
            <a:ext cx="1024128" cy="420624"/>
          </a:xfrm>
          <a:prstGeom prst="roundRect">
            <a:avLst>
              <a:gd name="adj" fmla="val 30000"/>
            </a:avLst>
          </a:prstGeom>
          <a:solidFill>
            <a:srgbClr val="1C255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</a:pPr>
            <a:r>
              <a:rPr lang="ro-RO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Pilot gratuit</a:t>
            </a:r>
          </a:p>
        </p:txBody>
      </p:sp>
      <p:sp>
        <p:nvSpPr>
          <p:cNvPr id="32" name="Arrow 2"/>
          <p:cNvSpPr/>
          <p:nvPr/>
        </p:nvSpPr>
        <p:spPr>
          <a:xfrm>
            <a:off x="3208263" y="5221224"/>
            <a:ext cx="182880" cy="164592"/>
          </a:xfrm>
          <a:prstGeom prst="rightArrow">
            <a:avLst/>
          </a:prstGeom>
          <a:solidFill>
            <a:srgbClr val="B8BCD0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o-RO"/>
          </a:p>
        </p:txBody>
      </p:sp>
      <p:sp>
        <p:nvSpPr>
          <p:cNvPr id="33" name="Step 3"/>
          <p:cNvSpPr/>
          <p:nvPr/>
        </p:nvSpPr>
        <p:spPr>
          <a:xfrm>
            <a:off x="3473439" y="5093208"/>
            <a:ext cx="1024128" cy="420624"/>
          </a:xfrm>
          <a:prstGeom prst="roundRect">
            <a:avLst>
              <a:gd name="adj" fmla="val 30000"/>
            </a:avLst>
          </a:prstGeom>
          <a:solidFill>
            <a:srgbClr val="E8504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</a:pPr>
            <a:r>
              <a:rPr lang="ro-RO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Clasă</a:t>
            </a:r>
          </a:p>
        </p:txBody>
      </p:sp>
      <p:sp>
        <p:nvSpPr>
          <p:cNvPr id="34" name="Arrow 3"/>
          <p:cNvSpPr/>
          <p:nvPr/>
        </p:nvSpPr>
        <p:spPr>
          <a:xfrm>
            <a:off x="4579863" y="5221224"/>
            <a:ext cx="182880" cy="164592"/>
          </a:xfrm>
          <a:prstGeom prst="rightArrow">
            <a:avLst/>
          </a:prstGeom>
          <a:solidFill>
            <a:srgbClr val="B8BCD0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o-RO"/>
          </a:p>
        </p:txBody>
      </p:sp>
      <p:sp>
        <p:nvSpPr>
          <p:cNvPr id="35" name="Step 4"/>
          <p:cNvSpPr/>
          <p:nvPr/>
        </p:nvSpPr>
        <p:spPr>
          <a:xfrm>
            <a:off x="4845039" y="5093208"/>
            <a:ext cx="1024128" cy="420624"/>
          </a:xfrm>
          <a:prstGeom prst="roundRect">
            <a:avLst>
              <a:gd name="adj" fmla="val 30000"/>
            </a:avLst>
          </a:prstGeom>
          <a:solidFill>
            <a:srgbClr val="E8504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</a:pPr>
            <a:r>
              <a:rPr lang="ro-RO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Școală</a:t>
            </a:r>
          </a:p>
        </p:txBody>
      </p:sp>
      <p:sp>
        <p:nvSpPr>
          <p:cNvPr id="36" name="Arrow 4"/>
          <p:cNvSpPr/>
          <p:nvPr/>
        </p:nvSpPr>
        <p:spPr>
          <a:xfrm>
            <a:off x="5951463" y="5221224"/>
            <a:ext cx="182880" cy="164592"/>
          </a:xfrm>
          <a:prstGeom prst="rightArrow">
            <a:avLst/>
          </a:prstGeom>
          <a:solidFill>
            <a:srgbClr val="B8BCD0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o-RO"/>
          </a:p>
        </p:txBody>
      </p:sp>
      <p:sp>
        <p:nvSpPr>
          <p:cNvPr id="37" name="Step 5"/>
          <p:cNvSpPr/>
          <p:nvPr/>
        </p:nvSpPr>
        <p:spPr>
          <a:xfrm>
            <a:off x="6216639" y="5093208"/>
            <a:ext cx="1024128" cy="420624"/>
          </a:xfrm>
          <a:prstGeom prst="roundRect">
            <a:avLst>
              <a:gd name="adj" fmla="val 30000"/>
            </a:avLst>
          </a:prstGeom>
          <a:solidFill>
            <a:srgbClr val="E8504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</a:pPr>
            <a:r>
              <a:rPr lang="ro-RO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Județ</a:t>
            </a:r>
          </a:p>
        </p:txBody>
      </p:sp>
      <p:sp>
        <p:nvSpPr>
          <p:cNvPr id="38" name="Budget label"/>
          <p:cNvSpPr txBox="1"/>
          <p:nvPr/>
        </p:nvSpPr>
        <p:spPr>
          <a:xfrm>
            <a:off x="7726679" y="4709160"/>
            <a:ext cx="38189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1700"/>
              </a:lnSpc>
              <a:spcAft>
                <a:spcPts val="0"/>
              </a:spcAft>
              <a:buNone/>
            </a:pPr>
            <a:r>
              <a:rPr lang="ro-RO" sz="1200" b="1" spc="200" dirty="0">
                <a:solidFill>
                  <a:srgbClr val="C93A36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BUGET MARKETING</a:t>
            </a:r>
          </a:p>
        </p:txBody>
      </p:sp>
      <p:sp>
        <p:nvSpPr>
          <p:cNvPr id="39" name="Budget"/>
          <p:cNvSpPr txBox="1"/>
          <p:nvPr/>
        </p:nvSpPr>
        <p:spPr>
          <a:xfrm>
            <a:off x="7726679" y="5056632"/>
            <a:ext cx="38189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1800"/>
              </a:lnSpc>
              <a:spcAft>
                <a:spcPts val="300"/>
              </a:spcAft>
              <a:buNone/>
            </a:pPr>
            <a:r>
              <a:rPr lang="ro-RO" sz="13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An 1: </a:t>
            </a:r>
            <a:r>
              <a:rPr lang="ro-RO" sz="13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€1.000</a:t>
            </a:r>
            <a:r>
              <a:rPr lang="ro-RO" sz="13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  An 3: </a:t>
            </a:r>
            <a:r>
              <a:rPr lang="ro-RO" sz="13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€10.000</a:t>
            </a:r>
            <a:r>
              <a:rPr lang="ro-RO" sz="13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  An 5: </a:t>
            </a:r>
            <a:r>
              <a:rPr lang="ro-RO" sz="13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€15.000</a:t>
            </a:r>
          </a:p>
          <a:p>
            <a:pPr marL="0" indent="0" algn="l">
              <a:lnSpc>
                <a:spcPts val="1700"/>
              </a:lnSpc>
              <a:spcAft>
                <a:spcPts val="0"/>
              </a:spcAft>
              <a:buNone/>
            </a:pPr>
            <a:r>
              <a:rPr lang="ro-RO" sz="1200" dirty="0">
                <a:solidFill>
                  <a:srgbClr val="4A5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~10% din venit începând cu anul 4.</a:t>
            </a:r>
          </a:p>
        </p:txBody>
      </p:sp>
      <p:sp>
        <p:nvSpPr>
          <p:cNvPr id="14" name="Text 7">
            <a:extLst>
              <a:ext uri="{FF2B5EF4-FFF2-40B4-BE49-F238E27FC236}">
                <a16:creationId xmlns:a16="http://schemas.microsoft.com/office/drawing/2014/main" id="{3384F6A2-9239-4062-255B-4F92B2A759BB}"/>
              </a:ext>
            </a:extLst>
          </p:cNvPr>
          <p:cNvSpPr/>
          <p:nvPr/>
        </p:nvSpPr>
        <p:spPr>
          <a:xfrm>
            <a:off x="304800" y="6416039"/>
            <a:ext cx="39243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1680"/>
              </a:lnSpc>
            </a:pPr>
            <a:r>
              <a:rPr lang="en-US" sz="1200" dirty="0">
                <a:solidFill>
                  <a:srgbClr val="2A2D3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signals.akiokun.com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8300" y="203200"/>
            <a:ext cx="457835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2A2D3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xclsv.ideas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207500" y="203200"/>
            <a:ext cx="26162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A2D3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SIGNals</a:t>
            </a:r>
            <a:endParaRPr lang="en-US" sz="1200" dirty="0"/>
          </a:p>
        </p:txBody>
      </p:sp>
      <p:sp>
        <p:nvSpPr>
          <p:cNvPr id="4" name="Text 2"/>
          <p:cNvSpPr>
            <a:spLocks noGrp="1"/>
          </p:cNvSpPr>
          <p:nvPr>
            <p:ph type="title"/>
          </p:nvPr>
        </p:nvSpPr>
        <p:spPr>
          <a:xfrm>
            <a:off x="730250" y="825500"/>
            <a:ext cx="71945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40"/>
              </a:lnSpc>
              <a:buNone/>
            </a:pPr>
            <a:r>
              <a:rPr lang="en-US" sz="4400" b="1" i="0" dirty="0">
                <a:solidFill>
                  <a:srgbClr val="E850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Proiecții financiare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0250" y="1987550"/>
            <a:ext cx="4898835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Venituri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6350" y="2330450"/>
            <a:ext cx="4806633" cy="1511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69418" indent="-169418" algn="l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An 1: 10 clase + 1 școală, 45 elevi → €5.500</a:t>
            </a:r>
            <a:endParaRPr lang="en-US" sz="1400" dirty="0"/>
          </a:p>
          <a:p>
            <a:pPr marL="169418" indent="-169418" algn="l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An 3: 90 clase + 20 școli, 570 elevi → €65.700</a:t>
            </a:r>
            <a:endParaRPr lang="en-US" sz="1400" dirty="0"/>
          </a:p>
          <a:p>
            <a:pPr marL="169418" indent="-169418" algn="l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An 5: 240 clase + 55 școli, 1.545 elevi → €177.700</a:t>
            </a:r>
            <a:endParaRPr lang="ro-RO" sz="1400" dirty="0">
              <a:solidFill>
                <a:srgbClr val="1C255E"/>
              </a:solidFill>
              <a:latin typeface="Nunito Sans" pitchFamily="34" charset="0"/>
              <a:ea typeface="Nunito Sans" pitchFamily="34" charset="-122"/>
              <a:cs typeface="Nunito Sans" pitchFamily="34" charset="-120"/>
            </a:endParaRPr>
          </a:p>
          <a:p>
            <a:pPr marL="169418" indent="-169418">
              <a:buSzPct val="100000"/>
              <a:buChar char="•"/>
            </a:pPr>
            <a:r>
              <a:rPr lang="ro-RO" sz="1400" dirty="0">
                <a:solidFill>
                  <a:srgbClr val="1C255E"/>
                </a:solidFill>
                <a:latin typeface="Nunito Sans" pitchFamily="34" charset="0"/>
              </a:rPr>
              <a:t>Model ideal de consumator-</a:t>
            </a:r>
            <a:r>
              <a:rPr lang="ro-RO" sz="1400" dirty="0" err="1">
                <a:solidFill>
                  <a:srgbClr val="1C255E"/>
                </a:solidFill>
                <a:latin typeface="Nunito Sans" pitchFamily="34" charset="0"/>
              </a:rPr>
              <a:t>Scoala</a:t>
            </a:r>
            <a:r>
              <a:rPr lang="ro-RO" sz="1400" dirty="0">
                <a:solidFill>
                  <a:srgbClr val="1C255E"/>
                </a:solidFill>
                <a:latin typeface="Nunito Sans" pitchFamily="34" charset="0"/>
              </a:rPr>
              <a:t> speciala </a:t>
            </a:r>
            <a:r>
              <a:rPr lang="en-US" sz="1400" dirty="0">
                <a:solidFill>
                  <a:srgbClr val="1C255E"/>
                </a:solidFill>
                <a:latin typeface="Nunito Sans" pitchFamily="34" charset="0"/>
              </a:rPr>
              <a:t>“</a:t>
            </a:r>
            <a:r>
              <a:rPr lang="en-US" sz="1400" dirty="0" err="1">
                <a:solidFill>
                  <a:srgbClr val="1C255E"/>
                </a:solidFill>
                <a:latin typeface="Nunito Sans" pitchFamily="34" charset="0"/>
              </a:rPr>
              <a:t>Sfanta</a:t>
            </a:r>
            <a:r>
              <a:rPr lang="en-US" sz="1400" dirty="0">
                <a:solidFill>
                  <a:srgbClr val="1C255E"/>
                </a:solidFill>
                <a:latin typeface="Nunito Sans" pitchFamily="34" charset="0"/>
              </a:rPr>
              <a:t> Maria”-</a:t>
            </a:r>
            <a:r>
              <a:rPr lang="en-US" b="1" dirty="0"/>
              <a:t>1258 </a:t>
            </a:r>
            <a:r>
              <a:rPr lang="en-US" b="1" dirty="0" err="1"/>
              <a:t>elevi</a:t>
            </a:r>
            <a:r>
              <a:rPr lang="en-US" b="1" dirty="0"/>
              <a:t> cu </a:t>
            </a:r>
            <a:r>
              <a:rPr lang="en-US" b="1" dirty="0" err="1"/>
              <a:t>deficienta</a:t>
            </a:r>
            <a:r>
              <a:rPr lang="en-US" b="1" dirty="0"/>
              <a:t> de </a:t>
            </a:r>
            <a:r>
              <a:rPr lang="en-US" b="1" dirty="0" err="1"/>
              <a:t>auz</a:t>
            </a:r>
            <a:endParaRPr lang="en-US" sz="1400" b="1" dirty="0"/>
          </a:p>
        </p:txBody>
      </p:sp>
      <p:sp>
        <p:nvSpPr>
          <p:cNvPr id="7" name="Text 5"/>
          <p:cNvSpPr/>
          <p:nvPr/>
        </p:nvSpPr>
        <p:spPr>
          <a:xfrm>
            <a:off x="730250" y="3841750"/>
            <a:ext cx="4898835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Profitabilitate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14832" y="4184650"/>
            <a:ext cx="4806633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69418" indent="-169418" algn="l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An 1: −€28.600 (investiție)</a:t>
            </a:r>
            <a:endParaRPr lang="en-US" sz="1400" dirty="0"/>
          </a:p>
          <a:p>
            <a:pPr marL="169418" indent="-169418" algn="l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An 3: −€5.900</a:t>
            </a:r>
            <a:endParaRPr lang="en-US" sz="1400" dirty="0"/>
          </a:p>
          <a:p>
            <a:pPr marL="169418" indent="-169418" algn="l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An 5: +€59.000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21450" y="1987550"/>
            <a:ext cx="5023104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Break-even:</a:t>
            </a:r>
            <a:r>
              <a:rPr lang="en-US" sz="15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în anul 4 (~700 de elevi activi)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21450" y="2603500"/>
            <a:ext cx="5023104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Pornim mic:</a:t>
            </a:r>
            <a:r>
              <a:rPr lang="en-US" sz="14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licența Clasă (€399) e ușa de intrare; școlile cu 4+ clase trec pe licența Școală (€1.490).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21450" y="4114800"/>
            <a:ext cx="5023104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Scalare:</a:t>
            </a:r>
            <a:r>
              <a:rPr lang="en-US" sz="14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venitul vine doar din licențe; fiecare elev nou costă ~€70 (dispozitiv) + ~€20/an (servere). Din anul 4, profitul crește cu fiecare licență.</a:t>
            </a:r>
            <a:endParaRPr lang="en-US" sz="1400" dirty="0"/>
          </a:p>
        </p:txBody>
      </p:sp>
      <p:sp>
        <p:nvSpPr>
          <p:cNvPr id="14" name="Text 7">
            <a:extLst>
              <a:ext uri="{FF2B5EF4-FFF2-40B4-BE49-F238E27FC236}">
                <a16:creationId xmlns:a16="http://schemas.microsoft.com/office/drawing/2014/main" id="{3384F6A2-9239-4062-255B-4F92B2A759BB}"/>
              </a:ext>
            </a:extLst>
          </p:cNvPr>
          <p:cNvSpPr/>
          <p:nvPr/>
        </p:nvSpPr>
        <p:spPr>
          <a:xfrm>
            <a:off x="304800" y="6416039"/>
            <a:ext cx="39243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1680"/>
              </a:lnSpc>
            </a:pPr>
            <a:r>
              <a:rPr lang="en-US" sz="1200" dirty="0">
                <a:solidFill>
                  <a:srgbClr val="2A2D3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signals.akiokun.com</a:t>
            </a:r>
            <a:endParaRPr lang="en-US" sz="1200" dirty="0"/>
          </a:p>
        </p:txBody>
      </p:sp>
      <p:sp>
        <p:nvSpPr>
          <p:cNvPr id="13" name="CasetăText 12">
            <a:extLst>
              <a:ext uri="{FF2B5EF4-FFF2-40B4-BE49-F238E27FC236}">
                <a16:creationId xmlns:a16="http://schemas.microsoft.com/office/drawing/2014/main" id="{13301500-10E1-0763-D83A-0F5F4E73798F}"/>
              </a:ext>
            </a:extLst>
          </p:cNvPr>
          <p:cNvSpPr txBox="1"/>
          <p:nvPr/>
        </p:nvSpPr>
        <p:spPr>
          <a:xfrm>
            <a:off x="111967" y="1966714"/>
            <a:ext cx="5528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dirty="0"/>
              <a:t>           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8300" y="203200"/>
            <a:ext cx="457835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2A2D3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xclsv.ideas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207500" y="203200"/>
            <a:ext cx="26162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A2D3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SIGNals</a:t>
            </a:r>
            <a:endParaRPr lang="en-US" sz="1200" dirty="0"/>
          </a:p>
        </p:txBody>
      </p:sp>
      <p:sp>
        <p:nvSpPr>
          <p:cNvPr id="4" name="Text 2"/>
          <p:cNvSpPr>
            <a:spLocks noGrp="1"/>
          </p:cNvSpPr>
          <p:nvPr>
            <p:ph type="title"/>
          </p:nvPr>
        </p:nvSpPr>
        <p:spPr>
          <a:xfrm>
            <a:off x="609600" y="685800"/>
            <a:ext cx="71945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40"/>
              </a:lnSpc>
              <a:buNone/>
            </a:pPr>
            <a:r>
              <a:rPr lang="en-US" sz="4400" b="1" i="0" dirty="0">
                <a:solidFill>
                  <a:srgbClr val="E850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Cum vedem viitorul?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1219200" y="1784350"/>
            <a:ext cx="10549827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75"/>
              </a:lnSpc>
              <a:buNone/>
            </a:pPr>
            <a:r>
              <a:rPr lang="en-US" sz="15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În următorul an vrem să testăm SIGNals într-o </a:t>
            </a:r>
            <a:r>
              <a:rPr lang="en-US" sz="15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școală pilot</a:t>
            </a:r>
            <a:r>
              <a:rPr lang="en-US" sz="15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, cu elevi și profesori reali, și să îmbunătățim produsul pe baza feedbackului lor.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19200" y="2743200"/>
            <a:ext cx="10549827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75"/>
              </a:lnSpc>
              <a:buNone/>
            </a:pPr>
            <a:r>
              <a:rPr lang="en-US" sz="15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Vrem să antrenăm recunoașterea pe </a:t>
            </a:r>
            <a:r>
              <a:rPr lang="en-US" sz="15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limba semnelor române</a:t>
            </a:r>
            <a:r>
              <a:rPr lang="en-US" sz="15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, oficială din 2020, ca traducerea din semne în text să fie cât mai precisă.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19200" y="3702050"/>
            <a:ext cx="10549827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75"/>
              </a:lnSpc>
              <a:buNone/>
            </a:pPr>
            <a:r>
              <a:rPr lang="en-US" sz="15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Pe termen lung, SIGNals poate ajunge în </a:t>
            </a:r>
            <a:r>
              <a:rPr lang="en-US" sz="15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toate școlile</a:t>
            </a:r>
            <a:r>
              <a:rPr lang="en-US" sz="15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cu elevi surzi și poate fi folosit oriunde contează comunicarea: la cursuri, conferințe sau în instituții publice.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19200" y="5003800"/>
            <a:ext cx="10549827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75"/>
              </a:lnSpc>
              <a:buNone/>
            </a:pPr>
            <a:r>
              <a:rPr lang="en-US" sz="15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Un elev surd nu ar trebui să aleagă între a fi în clasă și a înțelege lecția. </a:t>
            </a:r>
            <a:r>
              <a:rPr lang="en-US" sz="1500" b="1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Cu SIGNals, le poate avea pe amândouă.</a:t>
            </a:r>
            <a:endParaRPr lang="en-US" sz="1500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C959BB94-B08A-DA28-2002-BFEE0AEAB724}"/>
              </a:ext>
            </a:extLst>
          </p:cNvPr>
          <p:cNvSpPr/>
          <p:nvPr/>
        </p:nvSpPr>
        <p:spPr>
          <a:xfrm>
            <a:off x="304800" y="6416039"/>
            <a:ext cx="39243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1680"/>
              </a:lnSpc>
            </a:pPr>
            <a:r>
              <a:rPr lang="en-US" sz="1200" dirty="0">
                <a:solidFill>
                  <a:srgbClr val="2A2D3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signals.akiokun.com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EF0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kern="0" spc="200" dirty="0">
                <a:solidFill>
                  <a:srgbClr val="C93A36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PAȘII URMĂTORI</a:t>
            </a:r>
            <a:endParaRPr lang="en-US" sz="14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214127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1C255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De la prototip la școli reale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31850" y="4268477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1C255E"/>
          </a:solidFill>
          <a:ln w="38100">
            <a:solidFill>
              <a:srgbClr val="EEF0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12800" y="4693927"/>
            <a:ext cx="2563876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C255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Acum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12800" y="5095242"/>
            <a:ext cx="2563876" cy="772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1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Prototip la hackathon: platformă web și insigne demo.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524250" y="4268477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4A4A90"/>
          </a:solidFill>
          <a:ln w="38100">
            <a:solidFill>
              <a:srgbClr val="EEF0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505200" y="4693927"/>
            <a:ext cx="2563876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C255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Pilot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505200" y="5095242"/>
            <a:ext cx="2563876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1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Testare într-o școală cu elevi și profesori reali.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6650" y="4268477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A04A6E"/>
          </a:solidFill>
          <a:ln w="38100">
            <a:solidFill>
              <a:srgbClr val="EEF0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197600" y="4693927"/>
            <a:ext cx="2563876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C255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Îmbunătățire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197600" y="5095242"/>
            <a:ext cx="2563876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1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Mai multe semne, traducere mai precisă, feedback.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909050" y="4268477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E8504B"/>
          </a:solidFill>
          <a:ln w="38100">
            <a:solidFill>
              <a:srgbClr val="EEF0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890000" y="4693927"/>
            <a:ext cx="2563876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C255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Extindere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890000" y="5095242"/>
            <a:ext cx="2563876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1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Mai multe școli și parteneriate cu asociații.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12800" y="4389127"/>
            <a:ext cx="10566400" cy="381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1C255E"/>
              </a:gs>
              <a:gs pos="100000">
                <a:srgbClr val="E8504B"/>
              </a:gs>
            </a:gsLst>
            <a:lin ang="0" scaled="0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1145520" y="6238242"/>
            <a:ext cx="23368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A7092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10</a:t>
            </a:r>
            <a:endParaRPr lang="en-US" sz="1200" dirty="0"/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236D071B-DDB4-F6FF-0A1B-A4406C8B1A01}"/>
              </a:ext>
            </a:extLst>
          </p:cNvPr>
          <p:cNvSpPr/>
          <p:nvPr/>
        </p:nvSpPr>
        <p:spPr>
          <a:xfrm>
            <a:off x="304800" y="6416039"/>
            <a:ext cx="39243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1680"/>
              </a:lnSpc>
            </a:pPr>
            <a:r>
              <a:rPr lang="en-US" sz="1200" dirty="0">
                <a:solidFill>
                  <a:srgbClr val="2A2D3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signals.akiokun.com</a:t>
            </a:r>
            <a:endParaRPr lang="en-US" sz="1200" dirty="0"/>
          </a:p>
        </p:txBody>
      </p:sp>
      <p:sp>
        <p:nvSpPr>
          <p:cNvPr id="22" name="Text 1">
            <a:extLst>
              <a:ext uri="{FF2B5EF4-FFF2-40B4-BE49-F238E27FC236}">
                <a16:creationId xmlns:a16="http://schemas.microsoft.com/office/drawing/2014/main" id="{24AB7E87-DEC6-AB31-BC56-96142A186CE6}"/>
              </a:ext>
            </a:extLst>
          </p:cNvPr>
          <p:cNvSpPr/>
          <p:nvPr/>
        </p:nvSpPr>
        <p:spPr>
          <a:xfrm>
            <a:off x="368300" y="203200"/>
            <a:ext cx="457835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2A2D3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xclsv.ideas</a:t>
            </a:r>
            <a:endParaRPr lang="en-US" sz="1200" dirty="0"/>
          </a:p>
        </p:txBody>
      </p:sp>
      <p:sp>
        <p:nvSpPr>
          <p:cNvPr id="24" name="Text 4">
            <a:extLst>
              <a:ext uri="{FF2B5EF4-FFF2-40B4-BE49-F238E27FC236}">
                <a16:creationId xmlns:a16="http://schemas.microsoft.com/office/drawing/2014/main" id="{371AEBB4-371F-FF1C-03F6-23A44469C067}"/>
              </a:ext>
            </a:extLst>
          </p:cNvPr>
          <p:cNvSpPr/>
          <p:nvPr/>
        </p:nvSpPr>
        <p:spPr>
          <a:xfrm>
            <a:off x="10820400" y="203200"/>
            <a:ext cx="10033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A2D3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SIGNals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C25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kern="0" spc="200" dirty="0">
                <a:solidFill>
                  <a:srgbClr val="F26A6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MVP-UL NOSTRU</a:t>
            </a:r>
            <a:endParaRPr lang="en-US" sz="14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214127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F7F5F0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Ce am construit la hackathon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2800" y="2072642"/>
            <a:ext cx="5156200" cy="3769360"/>
          </a:xfrm>
          <a:prstGeom prst="roundRect">
            <a:avLst>
              <a:gd name="adj" fmla="val 4043"/>
            </a:avLst>
          </a:prstGeom>
          <a:solidFill>
            <a:srgbClr val="26307A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812800" y="2072642"/>
            <a:ext cx="5156200" cy="3769360"/>
          </a:xfrm>
          <a:custGeom>
            <a:avLst/>
            <a:gdLst/>
            <a:ahLst/>
            <a:cxnLst/>
            <a:rect l="l" t="t" r="r" b="b"/>
            <a:pathLst>
              <a:path w="5156200" h="3769360">
                <a:moveTo>
                  <a:pt x="0" y="152400"/>
                </a:moveTo>
                <a:lnTo>
                  <a:pt x="0" y="152400"/>
                </a:lnTo>
                <a:arcTo wR="152400" hR="152400" stAng="10800000" swAng="5400000"/>
                <a:lnTo>
                  <a:pt x="5003800" y="0"/>
                </a:lnTo>
                <a:arcTo wR="152400" hR="152400" stAng="16200000" swAng="5400000"/>
                <a:lnTo>
                  <a:pt x="5156200" y="152400"/>
                </a:lnTo>
                <a:arcTo wR="152400" hR="101600" stAng="0" swAng="-5400000"/>
                <a:lnTo>
                  <a:pt x="152400" y="50800"/>
                </a:lnTo>
                <a:arcTo wR="152400" hR="101600" stAng="16200000" swAng="-5400000"/>
                <a:close/>
              </a:path>
            </a:pathLst>
          </a:custGeom>
          <a:solidFill>
            <a:srgbClr val="F26A6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117600" y="2428242"/>
            <a:ext cx="4682998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7F5F0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Funcționează deja</a:t>
            </a:r>
            <a:endParaRPr lang="en-US" sz="2000" dirty="0"/>
          </a:p>
        </p:txBody>
      </p:sp>
      <p:pic>
        <p:nvPicPr>
          <p:cNvPr id="7" name="Image 0" descr="CheckCircle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17600" y="2885442"/>
            <a:ext cx="279400" cy="2794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24000" y="2891792"/>
            <a:ext cx="426440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D3D8F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Platforma web pentru elev și profesor</a:t>
            </a:r>
            <a:endParaRPr lang="en-US" sz="1500" dirty="0"/>
          </a:p>
        </p:txBody>
      </p:sp>
      <p:pic>
        <p:nvPicPr>
          <p:cNvPr id="9" name="Image 1" descr="CheckCircle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17600" y="3317242"/>
            <a:ext cx="279400" cy="2794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24000" y="3323592"/>
            <a:ext cx="426440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D3D8F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Transcrierea live a lecției</a:t>
            </a:r>
            <a:endParaRPr lang="en-US" sz="1500" dirty="0"/>
          </a:p>
        </p:txBody>
      </p:sp>
      <p:pic>
        <p:nvPicPr>
          <p:cNvPr id="11" name="Image 2" descr="CheckCircle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17600" y="3749042"/>
            <a:ext cx="279400" cy="2794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524000" y="3755392"/>
            <a:ext cx="426440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D3D8F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Întrebări de la elev la profesor</a:t>
            </a:r>
            <a:endParaRPr lang="en-US" sz="1500" dirty="0"/>
          </a:p>
        </p:txBody>
      </p:sp>
      <p:sp>
        <p:nvSpPr>
          <p:cNvPr id="14" name="Text 8"/>
          <p:cNvSpPr/>
          <p:nvPr/>
        </p:nvSpPr>
        <p:spPr>
          <a:xfrm>
            <a:off x="1524000" y="4187192"/>
            <a:ext cx="426440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endParaRPr lang="en-US" sz="1500" dirty="0"/>
          </a:p>
        </p:txBody>
      </p:sp>
      <p:sp>
        <p:nvSpPr>
          <p:cNvPr id="15" name="Shape 9"/>
          <p:cNvSpPr/>
          <p:nvPr/>
        </p:nvSpPr>
        <p:spPr>
          <a:xfrm>
            <a:off x="6223000" y="2072642"/>
            <a:ext cx="5156200" cy="3769360"/>
          </a:xfrm>
          <a:prstGeom prst="roundRect">
            <a:avLst>
              <a:gd name="adj" fmla="val 4043"/>
            </a:avLst>
          </a:prstGeom>
          <a:solidFill>
            <a:srgbClr val="FBF8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0"/>
          <p:cNvSpPr/>
          <p:nvPr/>
        </p:nvSpPr>
        <p:spPr>
          <a:xfrm>
            <a:off x="6223000" y="2072642"/>
            <a:ext cx="5156200" cy="3769360"/>
          </a:xfrm>
          <a:custGeom>
            <a:avLst/>
            <a:gdLst/>
            <a:ahLst/>
            <a:cxnLst/>
            <a:rect l="l" t="t" r="r" b="b"/>
            <a:pathLst>
              <a:path w="5156200" h="3769360">
                <a:moveTo>
                  <a:pt x="0" y="152400"/>
                </a:moveTo>
                <a:lnTo>
                  <a:pt x="0" y="152400"/>
                </a:lnTo>
                <a:arcTo wR="152400" hR="152400" stAng="10800000" swAng="5400000"/>
                <a:lnTo>
                  <a:pt x="5003800" y="0"/>
                </a:lnTo>
                <a:arcTo wR="152400" hR="152400" stAng="16200000" swAng="5400000"/>
                <a:lnTo>
                  <a:pt x="5156200" y="152400"/>
                </a:lnTo>
                <a:arcTo wR="152400" hR="101600" stAng="0" swAng="-5400000"/>
                <a:lnTo>
                  <a:pt x="152400" y="50800"/>
                </a:lnTo>
                <a:arcTo wR="152400" hR="101600" stAng="16200000" swAng="-5400000"/>
                <a:close/>
              </a:path>
            </a:pathLst>
          </a:custGeom>
          <a:solidFill>
            <a:srgbClr val="E8504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1"/>
          <p:cNvSpPr/>
          <p:nvPr/>
        </p:nvSpPr>
        <p:spPr>
          <a:xfrm>
            <a:off x="6527800" y="2428242"/>
            <a:ext cx="4682998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C255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Urmează</a:t>
            </a:r>
            <a:endParaRPr lang="en-US" sz="2000" dirty="0"/>
          </a:p>
        </p:txBody>
      </p:sp>
      <p:pic>
        <p:nvPicPr>
          <p:cNvPr id="18" name="Image 4" descr="Clock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527800" y="2885442"/>
            <a:ext cx="279400" cy="27940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6934200" y="2891792"/>
            <a:ext cx="426440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4A51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Insignele fizice, ca prototip hardware</a:t>
            </a:r>
            <a:endParaRPr lang="en-US" sz="1500" dirty="0"/>
          </a:p>
        </p:txBody>
      </p:sp>
      <p:pic>
        <p:nvPicPr>
          <p:cNvPr id="20" name="Image 5" descr="Clock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527800" y="3317242"/>
            <a:ext cx="279400" cy="27940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934200" y="3323592"/>
            <a:ext cx="426440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4A51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Traducere completă în limbajul semnelor</a:t>
            </a:r>
            <a:endParaRPr lang="en-US" sz="1500" dirty="0"/>
          </a:p>
        </p:txBody>
      </p:sp>
      <p:pic>
        <p:nvPicPr>
          <p:cNvPr id="22" name="Image 6" descr="Clock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527800" y="3749042"/>
            <a:ext cx="279400" cy="279400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6934200" y="3755392"/>
            <a:ext cx="426440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4A51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Testare cu elevi surzi</a:t>
            </a:r>
            <a:endParaRPr lang="en-US" sz="1500" dirty="0"/>
          </a:p>
        </p:txBody>
      </p:sp>
      <p:sp>
        <p:nvSpPr>
          <p:cNvPr id="25" name="Text 15"/>
          <p:cNvSpPr/>
          <p:nvPr/>
        </p:nvSpPr>
        <p:spPr>
          <a:xfrm>
            <a:off x="6934200" y="4187192"/>
            <a:ext cx="426440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endParaRPr lang="en-US" sz="1500" dirty="0"/>
          </a:p>
        </p:txBody>
      </p:sp>
      <p:sp>
        <p:nvSpPr>
          <p:cNvPr id="27" name="Text 17"/>
          <p:cNvSpPr/>
          <p:nvPr/>
        </p:nvSpPr>
        <p:spPr>
          <a:xfrm>
            <a:off x="11145520" y="6238242"/>
            <a:ext cx="23368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8F98C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12</a:t>
            </a:r>
            <a:endParaRPr lang="en-US" sz="1200" dirty="0"/>
          </a:p>
        </p:txBody>
      </p:sp>
      <p:sp>
        <p:nvSpPr>
          <p:cNvPr id="29" name="Text 7">
            <a:extLst>
              <a:ext uri="{FF2B5EF4-FFF2-40B4-BE49-F238E27FC236}">
                <a16:creationId xmlns:a16="http://schemas.microsoft.com/office/drawing/2014/main" id="{5CAC7B79-229A-9568-37C6-6F235661AFC8}"/>
              </a:ext>
            </a:extLst>
          </p:cNvPr>
          <p:cNvSpPr/>
          <p:nvPr/>
        </p:nvSpPr>
        <p:spPr>
          <a:xfrm>
            <a:off x="304800" y="6416039"/>
            <a:ext cx="39243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1680"/>
              </a:lnSpc>
            </a:pPr>
            <a:r>
              <a:rPr lang="en-US" sz="1200" dirty="0">
                <a:solidFill>
                  <a:schemeClr val="bg1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signals.akiokun.com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31" name="Text 1">
            <a:extLst>
              <a:ext uri="{FF2B5EF4-FFF2-40B4-BE49-F238E27FC236}">
                <a16:creationId xmlns:a16="http://schemas.microsoft.com/office/drawing/2014/main" id="{4629C0E5-C171-3E46-6DE6-A871258AFD99}"/>
              </a:ext>
            </a:extLst>
          </p:cNvPr>
          <p:cNvSpPr/>
          <p:nvPr/>
        </p:nvSpPr>
        <p:spPr>
          <a:xfrm>
            <a:off x="368300" y="203200"/>
            <a:ext cx="457835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xclsv.ideas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33" name="Text 4">
            <a:extLst>
              <a:ext uri="{FF2B5EF4-FFF2-40B4-BE49-F238E27FC236}">
                <a16:creationId xmlns:a16="http://schemas.microsoft.com/office/drawing/2014/main" id="{DA2BE096-F4D6-FDB2-10E1-6B6E70A6E883}"/>
              </a:ext>
            </a:extLst>
          </p:cNvPr>
          <p:cNvSpPr/>
          <p:nvPr/>
        </p:nvSpPr>
        <p:spPr>
          <a:xfrm>
            <a:off x="10820400" y="203200"/>
            <a:ext cx="10033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b="1" dirty="0">
                <a:solidFill>
                  <a:schemeClr val="bg1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SIGNals</a:t>
            </a:r>
            <a:endParaRPr lang="en-US" sz="1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1993900"/>
            <a:ext cx="40551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kern="0" spc="200" dirty="0">
                <a:solidFill>
                  <a:srgbClr val="C93A36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DEMO LIVE</a:t>
            </a:r>
            <a:endParaRPr lang="en-US" sz="14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2395221"/>
            <a:ext cx="4055110" cy="1122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320"/>
              </a:lnSpc>
              <a:buNone/>
            </a:pPr>
            <a:r>
              <a:rPr lang="en-US" sz="4000" b="1" i="0" dirty="0">
                <a:solidFill>
                  <a:srgbClr val="1C255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O oră de curs, în două minute</a:t>
            </a:r>
            <a:endParaRPr lang="en-US" sz="4000" dirty="0"/>
          </a:p>
        </p:txBody>
      </p:sp>
      <p:pic>
        <p:nvPicPr>
          <p:cNvPr id="4" name="Image 0" descr="Iconița aplicației SIGNals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2800" y="3644900"/>
            <a:ext cx="1016000" cy="1016000"/>
          </a:xfrm>
          <a:prstGeom prst="roundRect">
            <a:avLst>
              <a:gd name="adj" fmla="val 22500"/>
            </a:avLst>
          </a:prstGeom>
        </p:spPr>
      </p:pic>
      <p:sp>
        <p:nvSpPr>
          <p:cNvPr id="5" name="Shape 2"/>
          <p:cNvSpPr/>
          <p:nvPr/>
        </p:nvSpPr>
        <p:spPr>
          <a:xfrm>
            <a:off x="5359400" y="2391412"/>
            <a:ext cx="6019800" cy="0"/>
          </a:xfrm>
          <a:prstGeom prst="line">
            <a:avLst/>
          </a:prstGeom>
          <a:noFill/>
          <a:ln w="12700">
            <a:solidFill>
              <a:srgbClr val="DDE1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5359400" y="1640842"/>
            <a:ext cx="6223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80"/>
              </a:lnSpc>
              <a:buNone/>
            </a:pPr>
            <a:r>
              <a:rPr lang="en-US" sz="3200" b="1" dirty="0">
                <a:solidFill>
                  <a:srgbClr val="E850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01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134100" y="1788164"/>
            <a:ext cx="5402453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6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Elevul semnează în fața tabletei de pe bancă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359400" y="3326134"/>
            <a:ext cx="6019800" cy="0"/>
          </a:xfrm>
          <a:prstGeom prst="line">
            <a:avLst/>
          </a:prstGeom>
          <a:noFill/>
          <a:ln w="12700">
            <a:solidFill>
              <a:srgbClr val="DDE1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359400" y="2575564"/>
            <a:ext cx="6223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80"/>
              </a:lnSpc>
              <a:buNone/>
            </a:pPr>
            <a:r>
              <a:rPr lang="en-US" sz="3200" b="1" dirty="0">
                <a:solidFill>
                  <a:srgbClr val="E850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02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6134100" y="2722879"/>
            <a:ext cx="5402453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6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Camera tabletei urmărește scheletul palmei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359400" y="4260849"/>
            <a:ext cx="6019800" cy="0"/>
          </a:xfrm>
          <a:prstGeom prst="line">
            <a:avLst/>
          </a:prstGeom>
          <a:noFill/>
          <a:ln w="12700">
            <a:solidFill>
              <a:srgbClr val="DDE1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5359400" y="3510279"/>
            <a:ext cx="6223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80"/>
              </a:lnSpc>
              <a:buNone/>
            </a:pPr>
            <a:r>
              <a:rPr lang="en-US" sz="3200" b="1" dirty="0">
                <a:solidFill>
                  <a:srgbClr val="E850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03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6134100" y="3657600"/>
            <a:ext cx="5402453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6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AI-ul traduce semnele în text, live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5359400" y="4445000"/>
            <a:ext cx="6223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80"/>
              </a:lnSpc>
              <a:buNone/>
            </a:pPr>
            <a:r>
              <a:rPr lang="en-US" sz="3200" b="1" dirty="0">
                <a:solidFill>
                  <a:srgbClr val="E8504B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04</a:t>
            </a:r>
            <a:endParaRPr lang="en-US" sz="3200" dirty="0"/>
          </a:p>
        </p:txBody>
      </p:sp>
      <p:sp>
        <p:nvSpPr>
          <p:cNvPr id="15" name="Text 12"/>
          <p:cNvSpPr/>
          <p:nvPr/>
        </p:nvSpPr>
        <p:spPr>
          <a:xfrm>
            <a:off x="6134100" y="4592321"/>
            <a:ext cx="5402453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600" dirty="0">
                <a:solidFill>
                  <a:srgbClr val="1C255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Textul apare în aplicația profesorului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11145520" y="6238242"/>
            <a:ext cx="23368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A7092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09</a:t>
            </a:r>
            <a:endParaRPr lang="en-US" sz="1200" dirty="0"/>
          </a:p>
        </p:txBody>
      </p:sp>
      <p:sp>
        <p:nvSpPr>
          <p:cNvPr id="19" name="Text 7">
            <a:extLst>
              <a:ext uri="{FF2B5EF4-FFF2-40B4-BE49-F238E27FC236}">
                <a16:creationId xmlns:a16="http://schemas.microsoft.com/office/drawing/2014/main" id="{976A7D49-0A4D-01E5-1337-98CA35311DFB}"/>
              </a:ext>
            </a:extLst>
          </p:cNvPr>
          <p:cNvSpPr/>
          <p:nvPr/>
        </p:nvSpPr>
        <p:spPr>
          <a:xfrm>
            <a:off x="304800" y="6416039"/>
            <a:ext cx="39243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1680"/>
              </a:lnSpc>
            </a:pPr>
            <a:r>
              <a:rPr lang="en-US" sz="1200" dirty="0">
                <a:solidFill>
                  <a:srgbClr val="2A2D3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signals.akiokun.com</a:t>
            </a:r>
            <a:endParaRPr lang="en-US" sz="1200" dirty="0"/>
          </a:p>
        </p:txBody>
      </p:sp>
      <p:sp>
        <p:nvSpPr>
          <p:cNvPr id="21" name="Text 1">
            <a:extLst>
              <a:ext uri="{FF2B5EF4-FFF2-40B4-BE49-F238E27FC236}">
                <a16:creationId xmlns:a16="http://schemas.microsoft.com/office/drawing/2014/main" id="{6CEACD09-2CAD-64BB-2847-D19DD52FDECE}"/>
              </a:ext>
            </a:extLst>
          </p:cNvPr>
          <p:cNvSpPr/>
          <p:nvPr/>
        </p:nvSpPr>
        <p:spPr>
          <a:xfrm>
            <a:off x="368300" y="203200"/>
            <a:ext cx="457835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2A2D3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xclsv.ideas</a:t>
            </a:r>
            <a:endParaRPr lang="en-US" sz="1200" dirty="0"/>
          </a:p>
        </p:txBody>
      </p:sp>
      <p:sp>
        <p:nvSpPr>
          <p:cNvPr id="23" name="Text 4">
            <a:extLst>
              <a:ext uri="{FF2B5EF4-FFF2-40B4-BE49-F238E27FC236}">
                <a16:creationId xmlns:a16="http://schemas.microsoft.com/office/drawing/2014/main" id="{47A2A737-EFFA-09DD-70AA-63F08B89593E}"/>
              </a:ext>
            </a:extLst>
          </p:cNvPr>
          <p:cNvSpPr/>
          <p:nvPr/>
        </p:nvSpPr>
        <p:spPr>
          <a:xfrm>
            <a:off x="10820400" y="203200"/>
            <a:ext cx="10033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A2D3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SIGNals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mbolul SIGNals"/>
          <p:cNvPicPr>
            <a:picLocks noChangeAspect="1"/>
          </p:cNvPicPr>
          <p:nvPr/>
        </p:nvPicPr>
        <p:blipFill>
          <a:blip r:embed="rId3"/>
          <a:srcRect l="-86" r="-86"/>
          <a:stretch/>
        </p:blipFill>
        <p:spPr>
          <a:xfrm>
            <a:off x="4572000" y="1327783"/>
            <a:ext cx="3048000" cy="203835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title"/>
          </p:nvPr>
        </p:nvSpPr>
        <p:spPr>
          <a:xfrm>
            <a:off x="3687421" y="3620133"/>
            <a:ext cx="4817079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6000"/>
              </a:lnSpc>
              <a:buNone/>
            </a:pPr>
            <a:r>
              <a:rPr lang="en-US" sz="6000" b="1" i="0" dirty="0">
                <a:solidFill>
                  <a:srgbClr val="F7F5F0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Mulțumim!</a:t>
            </a:r>
            <a:endParaRPr lang="en-US" sz="6000" dirty="0"/>
          </a:p>
        </p:txBody>
      </p:sp>
      <p:sp>
        <p:nvSpPr>
          <p:cNvPr id="4" name="Text 1"/>
          <p:cNvSpPr/>
          <p:nvPr/>
        </p:nvSpPr>
        <p:spPr>
          <a:xfrm>
            <a:off x="5353439" y="4636133"/>
            <a:ext cx="1485043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26A6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Întrebări?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079088" y="5052693"/>
            <a:ext cx="4033744" cy="5029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1960"/>
              </a:lnSpc>
            </a:pPr>
            <a:r>
              <a:rPr lang="ro-RO" sz="1400" dirty="0">
                <a:solidFill>
                  <a:srgbClr val="AEB6D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vnuhack.apex@gmail.com</a:t>
            </a:r>
            <a:r>
              <a:rPr lang="en-US" sz="1400" dirty="0">
                <a:solidFill>
                  <a:srgbClr val="AEB6D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· </a:t>
            </a:r>
            <a:r>
              <a:rPr lang="ro-RO" sz="1400" dirty="0">
                <a:solidFill>
                  <a:srgbClr val="AEB6D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</a:t>
            </a:r>
            <a:r>
              <a:rPr lang="en-US" sz="1400" dirty="0">
                <a:solidFill>
                  <a:srgbClr val="AEB6D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ignals.akiokun.com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GNals – Smart Badge">
  <a:themeElements>
    <a:clrScheme name="SIGNals – Smart Badge">
      <a:dk1>
        <a:srgbClr val="1C255E"/>
      </a:dk1>
      <a:lt1>
        <a:srgbClr val="FBF8F2"/>
      </a:lt1>
      <a:dk2>
        <a:srgbClr val="545A83"/>
      </a:dk2>
      <a:lt2>
        <a:srgbClr val="E5E3E3"/>
      </a:lt2>
      <a:accent1>
        <a:srgbClr val="E8504B"/>
      </a:accent1>
      <a:accent2>
        <a:srgbClr val="6A7092"/>
      </a:accent2>
      <a:accent3>
        <a:srgbClr val="F26A65"/>
      </a:accent3>
      <a:accent4>
        <a:srgbClr val="C93A36"/>
      </a:accent4>
      <a:accent5>
        <a:srgbClr val="26307A"/>
      </a:accent5>
      <a:accent6>
        <a:srgbClr val="3A4268"/>
      </a:accent6>
      <a:hlink>
        <a:srgbClr val="0563C1"/>
      </a:hlink>
      <a:folHlink>
        <a:srgbClr val="954F72"/>
      </a:folHlink>
    </a:clrScheme>
    <a:fontScheme name="SIGNals – Smart Badge">
      <a:majorFont>
        <a:latin typeface="Rubi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unito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</TotalTime>
  <Words>2114</Words>
  <Application>Microsoft Office PowerPoint</Application>
  <PresentationFormat>Ecran lat</PresentationFormat>
  <Paragraphs>197</Paragraphs>
  <Slides>14</Slides>
  <Notes>14</Notes>
  <HiddenSlides>0</HiddenSlides>
  <MMClips>0</MMClips>
  <ScaleCrop>false</ScaleCrop>
  <HeadingPairs>
    <vt:vector size="6" baseType="variant">
      <vt:variant>
        <vt:lpstr>Fonturi utilizate</vt:lpstr>
      </vt:variant>
      <vt:variant>
        <vt:i4>3</vt:i4>
      </vt:variant>
      <vt:variant>
        <vt:lpstr>Temă</vt:lpstr>
      </vt:variant>
      <vt:variant>
        <vt:i4>1</vt:i4>
      </vt:variant>
      <vt:variant>
        <vt:lpstr>Titluri diapozitive</vt:lpstr>
      </vt:variant>
      <vt:variant>
        <vt:i4>14</vt:i4>
      </vt:variant>
    </vt:vector>
  </HeadingPairs>
  <TitlesOfParts>
    <vt:vector size="18" baseType="lpstr">
      <vt:lpstr>Arial</vt:lpstr>
      <vt:lpstr>Nunito Sans</vt:lpstr>
      <vt:lpstr>Rubik</vt:lpstr>
      <vt:lpstr>SIGNals – Smart Badge</vt:lpstr>
      <vt:lpstr>SIGNals</vt:lpstr>
      <vt:lpstr>Prezentare PowerPoint</vt:lpstr>
      <vt:lpstr>WHAT DO WE DO?</vt:lpstr>
      <vt:lpstr>Trei oameni, aceeași oră de curs</vt:lpstr>
      <vt:lpstr>Cum este industria?</vt:lpstr>
      <vt:lpstr>Competiția?</vt:lpstr>
      <vt:lpstr>Business Model &amp; Costs</vt:lpstr>
      <vt:lpstr>Plan de marketing</vt:lpstr>
      <vt:lpstr>Proiecții financiare</vt:lpstr>
      <vt:lpstr>Cum vedem viitorul?</vt:lpstr>
      <vt:lpstr>De la prototip la școli reale</vt:lpstr>
      <vt:lpstr>Ce am construit la hackathon</vt:lpstr>
      <vt:lpstr>O oră de curs, în două minute</vt:lpstr>
      <vt:lpstr>Mulțumim!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SIGNals – Smart Badge</dc:title>
  <dc:subject/>
  <dc:creator>Stefan Peter Florea</dc:creator>
  <cp:lastModifiedBy>Iulia APD</cp:lastModifiedBy>
  <cp:revision>3</cp:revision>
  <dcterms:created xsi:type="dcterms:W3CDTF">2026-10-04T20:30:30Z</dcterms:created>
  <dcterms:modified xsi:type="dcterms:W3CDTF">2026-10-05T08:46:18Z</dcterms:modified>
</cp:coreProperties>
</file>